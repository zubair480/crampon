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Crampon. An RL locomotion policy for a Unitree G1 on high altitude ice, wind and cold. A fall at 8000 m is a rescue, not a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policies, identical evaluation. Ours trained with an ice curriculum, the baseline on normal ground. Two to six point six times the survival on ice, and nothing lost on dry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sweep. Mean steps survived over 24 seeds at each friction level, and the count of seeds where our policy is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axes of randomization, all of them the mountain rather than the lab: ice friction, cold stiffened joints, sagging servo gain, and wind as a sustained drag force rather than 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contribution. Wide randomization on its own diverges. Learn on normal ground, warm start onto annealed ice with clipped observations, and keep full wind for evaluation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both ways. Restrictive contact pins the robot in a crouch, feet only contact walks. The fix is collision bitmasks rather than a compromise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terrain is generated from the real route rather than from noise: moraine ridge, seracs, boulders, and colour painted from the heightfield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is not GPU bound. Two point one seven milliseconds per step against a twenty millisecond budget, on a laptop CPU, on the shape of hardware a robot would actually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plainly because the judges will find it in Q and A. The get up does not stand. Seven runs, each with a different diagnosed cause, and the diagnostic chain is itself the evidence of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these slides is measured under identical conditions. The gap is named. The demo runs the same code path a robot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3"/>
        </a:solidFill>
      </p:bgPr>
    </p:bg>
    <p:spTree>
      <p:nvGrpSpPr>
        <p:cNvPr id="1" name=""/>
        <p:cNvGrpSpPr/>
        <p:nvPr/>
      </p:nvGrpSpPr>
      <p:grpSpPr>
        <a:xfrm>
          <a:off x="0" y="0"/>
          <a:ext cx="0" cy="0"/>
          <a:chOff x="0" y="0"/>
          <a:chExt cx="0" cy="0"/>
        </a:xfrm>
      </p:grpSpPr>
      <p:pic>
        <p:nvPicPr>
          <p:cNvPr id="2" name="Image 0" descr="C:/Users/zubai/Downloads/himalaya-hack/crampon/ev_wid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C">
              <a:alpha val="70000"/>
            </a:srgbClr>
          </a:solidFill>
          <a:ln/>
        </p:spPr>
      </p:sp>
      <p:sp>
        <p:nvSpPr>
          <p:cNvPr id="4" name="Text 1"/>
          <p:cNvSpPr txBox="1"/>
          <p:nvPr/>
        </p:nvSpPr>
        <p:spPr>
          <a:xfrm>
            <a:off x="822960" y="1874520"/>
            <a:ext cx="8229600" cy="1051560"/>
          </a:xfrm>
          <a:prstGeom prst="rect">
            <a:avLst/>
          </a:prstGeom>
          <a:noFill/>
          <a:ln/>
        </p:spPr>
        <p:txBody>
          <a:bodyPr wrap="square" lIns="0" tIns="0" rIns="0" bIns="0" rtlCol="0" anchor="b"/>
          <a:lstStyle/>
          <a:p>
            <a:pPr indent="0" marL="0">
              <a:buNone/>
            </a:pPr>
            <a:r>
              <a:rPr lang="en-US" sz="6400" b="1" spc="600" kern="0" dirty="0">
                <a:solidFill>
                  <a:srgbClr val="F2F8FC"/>
                </a:solidFill>
                <a:latin typeface="Cambria" pitchFamily="34" charset="0"/>
                <a:ea typeface="Cambria" pitchFamily="34" charset="-122"/>
                <a:cs typeface="Cambria" pitchFamily="34" charset="-120"/>
              </a:rPr>
              <a:t>CRAMPON</a:t>
            </a:r>
            <a:endParaRPr lang="en-US" sz="6400" dirty="0"/>
          </a:p>
        </p:txBody>
      </p:sp>
      <p:sp>
        <p:nvSpPr>
          <p:cNvPr id="5" name="Text 2"/>
          <p:cNvSpPr txBox="1"/>
          <p:nvPr/>
        </p:nvSpPr>
        <p:spPr>
          <a:xfrm>
            <a:off x="868680" y="3017520"/>
            <a:ext cx="8778240" cy="384048"/>
          </a:xfrm>
          <a:prstGeom prst="rect">
            <a:avLst/>
          </a:prstGeom>
          <a:noFill/>
          <a:ln/>
        </p:spPr>
        <p:txBody>
          <a:bodyPr wrap="square" lIns="0" tIns="0" rIns="0" bIns="0" rtlCol="0" anchor="ctr"/>
          <a:lstStyle/>
          <a:p>
            <a:pPr indent="0" marL="0">
              <a:buNone/>
            </a:pPr>
            <a:r>
              <a:rPr lang="en-US" sz="1900" dirty="0">
                <a:solidFill>
                  <a:srgbClr val="A9C8DF"/>
                </a:solidFill>
                <a:latin typeface="Calibri" pitchFamily="34" charset="0"/>
                <a:ea typeface="Calibri" pitchFamily="34" charset="-122"/>
                <a:cs typeface="Calibri" pitchFamily="34" charset="-120"/>
              </a:rPr>
              <a:t>Keeping a Unitree G1 on its feet on ice, in wind and in cold.</a:t>
            </a:r>
            <a:endParaRPr lang="en-US" sz="1900" dirty="0"/>
          </a:p>
        </p:txBody>
      </p:sp>
      <p:sp>
        <p:nvSpPr>
          <p:cNvPr id="6" name="Text 3"/>
          <p:cNvSpPr txBox="1"/>
          <p:nvPr/>
        </p:nvSpPr>
        <p:spPr>
          <a:xfrm>
            <a:off x="868680" y="3794760"/>
            <a:ext cx="7680960" cy="1188720"/>
          </a:xfrm>
          <a:prstGeom prst="rect">
            <a:avLst/>
          </a:prstGeom>
          <a:noFill/>
          <a:ln/>
        </p:spPr>
        <p:txBody>
          <a:bodyPr wrap="square" lIns="0" tIns="0" rIns="0" bIns="0" rtlCol="0" anchor="t"/>
          <a:lstStyle/>
          <a:p>
            <a:pPr indent="0" marL="0">
              <a:lnSpc>
                <a:spcPct val="125000"/>
              </a:lnSpc>
              <a:buNone/>
            </a:pPr>
            <a:r>
              <a:rPr lang="en-US" sz="1450" dirty="0">
                <a:solidFill>
                  <a:srgbClr val="F2F8FC"/>
                </a:solidFill>
                <a:latin typeface="Calibri" pitchFamily="34" charset="0"/>
                <a:ea typeface="Calibri" pitchFamily="34" charset="-122"/>
                <a:cs typeface="Calibri" pitchFamily="34" charset="-120"/>
              </a:rPr>
              <a:t>A humanoid that falls at 8000 m and cannot recover is not a broken robot. It is a body someone has to climb up and retrieve.</a:t>
            </a:r>
            <a:endParaRPr lang="en-US" sz="1450" dirty="0"/>
          </a:p>
          <a:p>
            <a:pPr indent="0" marL="0">
              <a:lnSpc>
                <a:spcPct val="125000"/>
              </a:lnSpc>
              <a:buNone/>
            </a:pPr>
            <a:r>
              <a:rPr lang="en-US" sz="1450" b="1" dirty="0">
                <a:solidFill>
                  <a:srgbClr val="F2F8FC"/>
                </a:solidFill>
                <a:latin typeface="Calibri" pitchFamily="34" charset="0"/>
                <a:ea typeface="Calibri" pitchFamily="34" charset="-122"/>
                <a:cs typeface="Calibri" pitchFamily="34" charset="-120"/>
              </a:rPr>
              <a:t>Every metre of extra footing is a rescue not mounted.</a:t>
            </a:r>
            <a:endParaRPr lang="en-US" sz="1450" dirty="0"/>
          </a:p>
        </p:txBody>
      </p:sp>
      <p:sp>
        <p:nvSpPr>
          <p:cNvPr id="7" name="Text 4"/>
          <p:cNvSpPr txBox="1"/>
          <p:nvPr/>
        </p:nvSpPr>
        <p:spPr>
          <a:xfrm>
            <a:off x="868680" y="5989320"/>
            <a:ext cx="7863840" cy="274320"/>
          </a:xfrm>
          <a:prstGeom prst="rect">
            <a:avLst/>
          </a:prstGeom>
          <a:noFill/>
          <a:ln/>
        </p:spPr>
        <p:txBody>
          <a:bodyPr wrap="square" lIns="0" tIns="0" rIns="0" bIns="0" rtlCol="0" anchor="ctr"/>
          <a:lstStyle/>
          <a:p>
            <a:pPr indent="0" marL="0">
              <a:buNone/>
            </a:pPr>
            <a:r>
              <a:rPr lang="en-US" sz="1100" dirty="0">
                <a:solidFill>
                  <a:srgbClr val="A9C8DF"/>
                </a:solidFill>
                <a:latin typeface="Calibri" pitchFamily="34" charset="0"/>
                <a:ea typeface="Calibri" pitchFamily="34" charset="-122"/>
                <a:cs typeface="Calibri" pitchFamily="34" charset="-120"/>
              </a:rPr>
              <a:t>Himalaya Robotics Hack, 29 to 30 Aug 2026  ·  Track 1: Movement  ·  Unitree G1, 29 actuated DoF, 33.3 kg</a:t>
            </a:r>
            <a:endParaRPr lang="en-US" sz="1100" dirty="0"/>
          </a:p>
        </p:txBody>
      </p:sp>
      <p:sp>
        <p:nvSpPr>
          <p:cNvPr id="8" name="Text 5"/>
          <p:cNvSpPr txBox="1"/>
          <p:nvPr/>
        </p:nvSpPr>
        <p:spPr>
          <a:xfrm>
            <a:off x="8046720" y="5989320"/>
            <a:ext cx="3291840" cy="274320"/>
          </a:xfrm>
          <a:prstGeom prst="rect">
            <a:avLst/>
          </a:prstGeom>
          <a:noFill/>
          <a:ln/>
        </p:spPr>
        <p:txBody>
          <a:bodyPr wrap="square" lIns="0" tIns="0" rIns="0" bIns="0" rtlCol="0" anchor="ctr"/>
          <a:lstStyle/>
          <a:p>
            <a:pPr algn="r" indent="0" marL="0">
              <a:buNone/>
            </a:pPr>
            <a:r>
              <a:rPr lang="en-US" sz="1100" b="1" dirty="0">
                <a:solidFill>
                  <a:srgbClr val="F2F8FC"/>
                </a:solidFill>
                <a:latin typeface="Calibri" pitchFamily="34" charset="0"/>
                <a:ea typeface="Calibri" pitchFamily="34" charset="-122"/>
                <a:cs typeface="Calibri" pitchFamily="34" charset="-120"/>
              </a:rPr>
              <a:t>github.com/zubair480/crampon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HEADLINE RESULT, LIKE FOR LIKE</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2x to 6.6x longer on ice, at every icy friction level</a:t>
            </a:r>
            <a:endParaRPr lang="en-US" sz="3100" dirty="0"/>
          </a:p>
        </p:txBody>
      </p:sp>
      <p:sp>
        <p:nvSpPr>
          <p:cNvPr id="4" name="Shape 2"/>
          <p:cNvSpPr/>
          <p:nvPr/>
        </p:nvSpPr>
        <p:spPr>
          <a:xfrm>
            <a:off x="548640" y="1417320"/>
            <a:ext cx="3246120" cy="1371600"/>
          </a:xfrm>
          <a:prstGeom prst="roundRect">
            <a:avLst>
              <a:gd name="adj" fmla="val 4000"/>
            </a:avLst>
          </a:prstGeom>
          <a:solidFill>
            <a:srgbClr val="0F2739"/>
          </a:solidFill>
          <a:ln w="9525">
            <a:solidFill>
              <a:srgbClr val="1C3B54"/>
            </a:solidFill>
            <a:prstDash val="solid"/>
          </a:ln>
        </p:spPr>
      </p:sp>
      <p:sp>
        <p:nvSpPr>
          <p:cNvPr id="5" name="Text 3"/>
          <p:cNvSpPr txBox="1"/>
          <p:nvPr/>
        </p:nvSpPr>
        <p:spPr>
          <a:xfrm>
            <a:off x="804672" y="1563624"/>
            <a:ext cx="2743200" cy="50292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2x to 6.6x</a:t>
            </a:r>
            <a:endParaRPr lang="en-US" sz="2700" dirty="0"/>
          </a:p>
        </p:txBody>
      </p:sp>
      <p:sp>
        <p:nvSpPr>
          <p:cNvPr id="6" name="Text 4"/>
          <p:cNvSpPr txBox="1"/>
          <p:nvPr/>
        </p:nvSpPr>
        <p:spPr>
          <a:xfrm>
            <a:off x="804672" y="2075688"/>
            <a:ext cx="2743200" cy="594360"/>
          </a:xfrm>
          <a:prstGeom prst="rect">
            <a:avLst/>
          </a:prstGeom>
          <a:noFill/>
          <a:ln/>
        </p:spPr>
        <p:txBody>
          <a:bodyPr wrap="square" lIns="0" tIns="0" rIns="0" bIns="0" rtlCol="0" anchor="t"/>
          <a:lstStyle/>
          <a:p>
            <a:pPr indent="0" marL="0">
              <a:lnSpc>
                <a:spcPct val="110000"/>
              </a:lnSpc>
              <a:buNone/>
            </a:pPr>
            <a:r>
              <a:rPr lang="en-US" sz="1150" dirty="0">
                <a:solidFill>
                  <a:srgbClr val="A9C8DF"/>
                </a:solidFill>
                <a:latin typeface="Calibri" pitchFamily="34" charset="0"/>
                <a:ea typeface="Calibri" pitchFamily="34" charset="-122"/>
                <a:cs typeface="Calibri" pitchFamily="34" charset="-120"/>
              </a:rPr>
              <a:t>longer survival on ice against a baseline trained on normal ground</a:t>
            </a:r>
            <a:endParaRPr lang="en-US" sz="1150" dirty="0"/>
          </a:p>
        </p:txBody>
      </p:sp>
      <p:sp>
        <p:nvSpPr>
          <p:cNvPr id="7" name="Shape 5"/>
          <p:cNvSpPr/>
          <p:nvPr/>
        </p:nvSpPr>
        <p:spPr>
          <a:xfrm>
            <a:off x="548640" y="3044952"/>
            <a:ext cx="3246120" cy="1371600"/>
          </a:xfrm>
          <a:prstGeom prst="roundRect">
            <a:avLst>
              <a:gd name="adj" fmla="val 4000"/>
            </a:avLst>
          </a:prstGeom>
          <a:solidFill>
            <a:srgbClr val="0F2739"/>
          </a:solidFill>
          <a:ln w="9525">
            <a:solidFill>
              <a:srgbClr val="1C3B54"/>
            </a:solidFill>
            <a:prstDash val="solid"/>
          </a:ln>
        </p:spPr>
      </p:sp>
      <p:sp>
        <p:nvSpPr>
          <p:cNvPr id="8" name="Text 6"/>
          <p:cNvSpPr txBox="1"/>
          <p:nvPr/>
        </p:nvSpPr>
        <p:spPr>
          <a:xfrm>
            <a:off x="804672" y="3191256"/>
            <a:ext cx="2743200" cy="50292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19 to 24 / 24</a:t>
            </a:r>
            <a:endParaRPr lang="en-US" sz="2700" dirty="0"/>
          </a:p>
        </p:txBody>
      </p:sp>
      <p:sp>
        <p:nvSpPr>
          <p:cNvPr id="9" name="Text 7"/>
          <p:cNvSpPr txBox="1"/>
          <p:nvPr/>
        </p:nvSpPr>
        <p:spPr>
          <a:xfrm>
            <a:off x="804672" y="3703320"/>
            <a:ext cx="2743200" cy="594360"/>
          </a:xfrm>
          <a:prstGeom prst="rect">
            <a:avLst/>
          </a:prstGeom>
          <a:noFill/>
          <a:ln/>
        </p:spPr>
        <p:txBody>
          <a:bodyPr wrap="square" lIns="0" tIns="0" rIns="0" bIns="0" rtlCol="0" anchor="t"/>
          <a:lstStyle/>
          <a:p>
            <a:pPr indent="0" marL="0">
              <a:lnSpc>
                <a:spcPct val="110000"/>
              </a:lnSpc>
              <a:buNone/>
            </a:pPr>
            <a:r>
              <a:rPr lang="en-US" sz="1150" dirty="0">
                <a:solidFill>
                  <a:srgbClr val="A9C8DF"/>
                </a:solidFill>
                <a:latin typeface="Calibri" pitchFamily="34" charset="0"/>
                <a:ea typeface="Calibri" pitchFamily="34" charset="-122"/>
                <a:cs typeface="Calibri" pitchFamily="34" charset="-120"/>
              </a:rPr>
              <a:t>seeds where the ice policy is ahead, at every icy friction level</a:t>
            </a:r>
            <a:endParaRPr lang="en-US" sz="1150" dirty="0"/>
          </a:p>
        </p:txBody>
      </p:sp>
      <p:sp>
        <p:nvSpPr>
          <p:cNvPr id="10" name="Shape 8"/>
          <p:cNvSpPr/>
          <p:nvPr/>
        </p:nvSpPr>
        <p:spPr>
          <a:xfrm>
            <a:off x="548640" y="4672584"/>
            <a:ext cx="3246120" cy="1371600"/>
          </a:xfrm>
          <a:prstGeom prst="roundRect">
            <a:avLst>
              <a:gd name="adj" fmla="val 4000"/>
            </a:avLst>
          </a:prstGeom>
          <a:solidFill>
            <a:srgbClr val="0F2739"/>
          </a:solidFill>
          <a:ln w="9525">
            <a:solidFill>
              <a:srgbClr val="1C3B54"/>
            </a:solidFill>
            <a:prstDash val="solid"/>
          </a:ln>
        </p:spPr>
      </p:sp>
      <p:sp>
        <p:nvSpPr>
          <p:cNvPr id="11" name="Text 9"/>
          <p:cNvSpPr txBox="1"/>
          <p:nvPr/>
        </p:nvSpPr>
        <p:spPr>
          <a:xfrm>
            <a:off x="804672" y="4818888"/>
            <a:ext cx="2743200" cy="50292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No regression</a:t>
            </a:r>
            <a:endParaRPr lang="en-US" sz="2700" dirty="0"/>
          </a:p>
        </p:txBody>
      </p:sp>
      <p:sp>
        <p:nvSpPr>
          <p:cNvPr id="12" name="Text 10"/>
          <p:cNvSpPr txBox="1"/>
          <p:nvPr/>
        </p:nvSpPr>
        <p:spPr>
          <a:xfrm>
            <a:off x="804672" y="5330952"/>
            <a:ext cx="2743200" cy="594360"/>
          </a:xfrm>
          <a:prstGeom prst="rect">
            <a:avLst/>
          </a:prstGeom>
          <a:noFill/>
          <a:ln/>
        </p:spPr>
        <p:txBody>
          <a:bodyPr wrap="square" lIns="0" tIns="0" rIns="0" bIns="0" rtlCol="0" anchor="t"/>
          <a:lstStyle/>
          <a:p>
            <a:pPr indent="0" marL="0">
              <a:lnSpc>
                <a:spcPct val="110000"/>
              </a:lnSpc>
              <a:buNone/>
            </a:pPr>
            <a:r>
              <a:rPr lang="en-US" sz="1150" dirty="0">
                <a:solidFill>
                  <a:srgbClr val="A9C8DF"/>
                </a:solidFill>
                <a:latin typeface="Calibri" pitchFamily="34" charset="0"/>
                <a:ea typeface="Calibri" pitchFamily="34" charset="-122"/>
                <a:cs typeface="Calibri" pitchFamily="34" charset="-120"/>
              </a:rPr>
              <a:t>on normal ground. At μ = 0.35 both policies saturate at 500 steps</a:t>
            </a:r>
            <a:endParaRPr lang="en-US" sz="1150" dirty="0"/>
          </a:p>
        </p:txBody>
      </p:sp>
      <p:sp>
        <p:nvSpPr>
          <p:cNvPr id="13" name="Shape 11"/>
          <p:cNvSpPr/>
          <p:nvPr/>
        </p:nvSpPr>
        <p:spPr>
          <a:xfrm>
            <a:off x="4160520" y="1371600"/>
            <a:ext cx="7479792" cy="4846320"/>
          </a:xfrm>
          <a:prstGeom prst="roundRect">
            <a:avLst>
              <a:gd name="adj" fmla="val 943"/>
            </a:avLst>
          </a:prstGeom>
          <a:solidFill>
            <a:srgbClr val="FFFFFF"/>
          </a:solidFill>
          <a:ln w="12700">
            <a:solidFill>
              <a:srgbClr val="FFFFFF"/>
            </a:solidFill>
            <a:prstDash val="solid"/>
          </a:ln>
        </p:spPr>
      </p:sp>
      <p:pic>
        <p:nvPicPr>
          <p:cNvPr id="14" name="Image 0" descr="C:/Users/zubai/Downloads/himalaya-hack/crampon/sweep.png">    </p:cNvPr>
          <p:cNvPicPr>
            <a:picLocks noChangeAspect="1"/>
          </p:cNvPicPr>
          <p:nvPr/>
        </p:nvPicPr>
        <p:blipFill>
          <a:blip r:embed="rId1"/>
          <a:stretch>
            <a:fillRect/>
          </a:stretch>
        </p:blipFill>
        <p:spPr>
          <a:xfrm>
            <a:off x="4315968" y="1481328"/>
            <a:ext cx="7168896" cy="4654296"/>
          </a:xfrm>
          <a:prstGeom prst="rect">
            <a:avLst/>
          </a:prstGeom>
        </p:spPr>
      </p:pic>
      <p:sp>
        <p:nvSpPr>
          <p:cNvPr id="15" name="Text 12"/>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Metric: steps survived of 500 before the torso tips past horizontal.  ·  24 seeds per friction level.</a:t>
            </a:r>
            <a:endParaRPr lang="en-US" sz="950" dirty="0"/>
          </a:p>
        </p:txBody>
      </p:sp>
      <p:sp>
        <p:nvSpPr>
          <p:cNvPr id="16" name="Text 13"/>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THE NUMBERS</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Steps survived of 500, by ground friction</a:t>
            </a:r>
            <a:endParaRPr lang="en-US" sz="3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1234440"/>
                <a:gridCol w="1508760"/>
                <a:gridCol w="1508760"/>
                <a:gridCol w="1645920"/>
                <a:gridCol w="1508760"/>
              </a:tblGrid>
              <a:tr h="566928">
                <a:tc>
                  <a:txBody>
                    <a:bodyPr/>
                    <a:lstStyle/>
                    <a:p>
                      <a:pPr algn="l" indent="0" marL="0">
                        <a:buNone/>
                      </a:pPr>
                      <a:r>
                        <a:rPr lang="en-US" sz="1250" b="1" dirty="0">
                          <a:solidFill>
                            <a:srgbClr val="F2F8FC"/>
                          </a:solidFill>
                          <a:latin typeface="Calibri" pitchFamily="34" charset="0"/>
                          <a:ea typeface="Calibri" pitchFamily="34" charset="-122"/>
                          <a:cs typeface="Calibri" pitchFamily="34" charset="-120"/>
                        </a:rPr>
                        <a:t>μ</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Baseline</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Ours</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Delta</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Seeds ahead</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16374E"/>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220.5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432.5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+96%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21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0.015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154.2</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333.5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+116%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21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0.020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122.5</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258.0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+111%</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19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0.030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66.6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212.2</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+219%</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23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0.050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48.9</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154.3</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+216%</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22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r h="566928">
                <a:tc>
                  <a:txBody>
                    <a:bodyPr/>
                    <a:lstStyle/>
                    <a:p>
                      <a:pPr algn="l" indent="0" marL="0">
                        <a:buNone/>
                      </a:pPr>
                      <a:r>
                        <a:rPr lang="en-US" sz="1250" dirty="0">
                          <a:solidFill>
                            <a:srgbClr val="A9C8DF"/>
                          </a:solidFill>
                          <a:latin typeface="Calibri" pitchFamily="34" charset="0"/>
                          <a:ea typeface="Calibri" pitchFamily="34" charset="-122"/>
                          <a:cs typeface="Calibri" pitchFamily="34" charset="-120"/>
                        </a:rPr>
                        <a:t>0.100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49.0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35A0F0"/>
                          </a:solidFill>
                          <a:latin typeface="Calibri" pitchFamily="34" charset="0"/>
                          <a:ea typeface="Calibri" pitchFamily="34" charset="-122"/>
                          <a:cs typeface="Calibri" pitchFamily="34" charset="-120"/>
                        </a:rPr>
                        <a:t>325.3</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b="1" dirty="0">
                          <a:solidFill>
                            <a:srgbClr val="F2F8FC"/>
                          </a:solidFill>
                          <a:latin typeface="Calibri" pitchFamily="34" charset="0"/>
                          <a:ea typeface="Calibri" pitchFamily="34" charset="-122"/>
                          <a:cs typeface="Calibri" pitchFamily="34" charset="-120"/>
                        </a:rPr>
                        <a:t>+564%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c>
                  <a:txBody>
                    <a:bodyPr/>
                    <a:lstStyle/>
                    <a:p>
                      <a:pPr algn="r" indent="0" marL="0">
                        <a:buNone/>
                      </a:pPr>
                      <a:r>
                        <a:rPr lang="en-US" sz="1250" dirty="0">
                          <a:solidFill>
                            <a:srgbClr val="A9C8DF"/>
                          </a:solidFill>
                          <a:latin typeface="Calibri" pitchFamily="34" charset="0"/>
                          <a:ea typeface="Calibri" pitchFamily="34" charset="-122"/>
                          <a:cs typeface="Calibri" pitchFamily="34" charset="-120"/>
                        </a:rPr>
                        <a:t>24 / 24</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B1E2E"/>
                    </a:solidFill>
                  </a:tcPr>
                </a:tc>
              </a:tr>
              <a:tr h="566928">
                <a:tc>
                  <a:txBody>
                    <a:bodyPr/>
                    <a:lstStyle/>
                    <a:p>
                      <a:pPr algn="l" indent="0" marL="0">
                        <a:buNone/>
                      </a:pPr>
                      <a:r>
                        <a:rPr lang="en-US" sz="1250" dirty="0">
                          <a:solidFill>
                            <a:srgbClr val="6E8CA3"/>
                          </a:solidFill>
                          <a:latin typeface="Calibri" pitchFamily="34" charset="0"/>
                          <a:ea typeface="Calibri" pitchFamily="34" charset="-122"/>
                          <a:cs typeface="Calibri" pitchFamily="34" charset="-120"/>
                        </a:rPr>
                        <a:t>0.350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6E8CA3"/>
                          </a:solidFill>
                          <a:latin typeface="Calibri" pitchFamily="34" charset="0"/>
                          <a:ea typeface="Calibri" pitchFamily="34" charset="-122"/>
                          <a:cs typeface="Calibri" pitchFamily="34" charset="-120"/>
                        </a:rPr>
                        <a:t>500.0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b="1" dirty="0">
                          <a:solidFill>
                            <a:srgbClr val="6E8CA3"/>
                          </a:solidFill>
                          <a:latin typeface="Calibri" pitchFamily="34" charset="0"/>
                          <a:ea typeface="Calibri" pitchFamily="34" charset="-122"/>
                          <a:cs typeface="Calibri" pitchFamily="34" charset="-120"/>
                        </a:rPr>
                        <a:t>500.0</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050" b="1" dirty="0">
                          <a:solidFill>
                            <a:srgbClr val="6E8CA3"/>
                          </a:solidFill>
                          <a:latin typeface="Calibri" pitchFamily="34" charset="0"/>
                          <a:ea typeface="Calibri" pitchFamily="34" charset="-122"/>
                          <a:cs typeface="Calibri" pitchFamily="34" charset="-120"/>
                        </a:rPr>
                        <a:t>both saturate</a:t>
                      </a:r>
                      <a:endParaRPr lang="en-US" sz="10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c>
                  <a:txBody>
                    <a:bodyPr/>
                    <a:lstStyle/>
                    <a:p>
                      <a:pPr algn="r" indent="0" marL="0">
                        <a:buNone/>
                      </a:pPr>
                      <a:r>
                        <a:rPr lang="en-US" sz="1250" dirty="0">
                          <a:solidFill>
                            <a:srgbClr val="6E8CA3"/>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27000" marR="127000" marT="50800" marB="50800" anchor="ctr">
                    <a:lnL w="0" cap="flat" cmpd="sng" algn="ctr">
                      <a:noFill/>
                    </a:lnL>
                    <a:lnR w="0" cap="flat" cmpd="sng" algn="ctr">
                      <a:noFill/>
                    </a:lnR>
                    <a:lnT w="0" cap="flat" cmpd="sng" algn="ctr">
                      <a:noFill/>
                    </a:lnT>
                    <a:lnB w="0" cap="flat" cmpd="sng" algn="ctr">
                      <a:noFill/>
                    </a:lnB>
                    <a:solidFill>
                      <a:srgbClr val="0F2739"/>
                    </a:solidFill>
                  </a:tcPr>
                </a:tc>
              </a:tr>
            </a:tbl>
          </a:graphicData>
        </a:graphic>
      </p:graphicFrame>
      <p:sp>
        <p:nvSpPr>
          <p:cNvPr id="5" name="Shape 2"/>
          <p:cNvSpPr/>
          <p:nvPr/>
        </p:nvSpPr>
        <p:spPr>
          <a:xfrm>
            <a:off x="8275320" y="1481328"/>
            <a:ext cx="3364992" cy="1481328"/>
          </a:xfrm>
          <a:prstGeom prst="roundRect">
            <a:avLst>
              <a:gd name="adj" fmla="val 3704"/>
            </a:avLst>
          </a:prstGeom>
          <a:solidFill>
            <a:srgbClr val="0F2739"/>
          </a:solidFill>
          <a:ln w="9525">
            <a:solidFill>
              <a:srgbClr val="1C3B54"/>
            </a:solidFill>
            <a:prstDash val="solid"/>
          </a:ln>
        </p:spPr>
      </p:sp>
      <p:sp>
        <p:nvSpPr>
          <p:cNvPr id="6" name="Text 3"/>
          <p:cNvSpPr txBox="1"/>
          <p:nvPr/>
        </p:nvSpPr>
        <p:spPr>
          <a:xfrm>
            <a:off x="8485632" y="1645920"/>
            <a:ext cx="2944368" cy="292608"/>
          </a:xfrm>
          <a:prstGeom prst="rect">
            <a:avLst/>
          </a:prstGeom>
          <a:noFill/>
          <a:ln/>
        </p:spPr>
        <p:txBody>
          <a:bodyPr wrap="square" lIns="0" tIns="0" rIns="0" bIns="0" rtlCol="0" anchor="ctr"/>
          <a:lstStyle/>
          <a:p>
            <a:pPr indent="0" marL="0">
              <a:buNone/>
            </a:pPr>
            <a:r>
              <a:rPr lang="en-US" sz="1200" b="1" dirty="0">
                <a:solidFill>
                  <a:srgbClr val="35A0F0"/>
                </a:solidFill>
                <a:latin typeface="Calibri" pitchFamily="34" charset="0"/>
                <a:ea typeface="Calibri" pitchFamily="34" charset="-122"/>
                <a:cs typeface="Calibri" pitchFamily="34" charset="-120"/>
              </a:rPr>
              <a:t>μ = 0.35 is a dry gym floor</a:t>
            </a:r>
            <a:endParaRPr lang="en-US" sz="1200" dirty="0"/>
          </a:p>
        </p:txBody>
      </p:sp>
      <p:sp>
        <p:nvSpPr>
          <p:cNvPr id="7" name="Text 4"/>
          <p:cNvSpPr txBox="1"/>
          <p:nvPr/>
        </p:nvSpPr>
        <p:spPr>
          <a:xfrm>
            <a:off x="8485632" y="1975104"/>
            <a:ext cx="2944368" cy="84124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Both policies run the full 500 steps. Training on ice costs nothing on normal ground.</a:t>
            </a:r>
            <a:endParaRPr lang="en-US" sz="1050" dirty="0"/>
          </a:p>
        </p:txBody>
      </p:sp>
      <p:sp>
        <p:nvSpPr>
          <p:cNvPr id="8" name="Shape 5"/>
          <p:cNvSpPr/>
          <p:nvPr/>
        </p:nvSpPr>
        <p:spPr>
          <a:xfrm>
            <a:off x="8275320" y="3118104"/>
            <a:ext cx="3364992" cy="1481328"/>
          </a:xfrm>
          <a:prstGeom prst="roundRect">
            <a:avLst>
              <a:gd name="adj" fmla="val 3704"/>
            </a:avLst>
          </a:prstGeom>
          <a:solidFill>
            <a:srgbClr val="0F2739"/>
          </a:solidFill>
          <a:ln w="9525">
            <a:solidFill>
              <a:srgbClr val="1C3B54"/>
            </a:solidFill>
            <a:prstDash val="solid"/>
          </a:ln>
        </p:spPr>
      </p:sp>
      <p:sp>
        <p:nvSpPr>
          <p:cNvPr id="9" name="Text 6"/>
          <p:cNvSpPr txBox="1"/>
          <p:nvPr/>
        </p:nvSpPr>
        <p:spPr>
          <a:xfrm>
            <a:off x="8485632" y="3282696"/>
            <a:ext cx="2944368" cy="292608"/>
          </a:xfrm>
          <a:prstGeom prst="rect">
            <a:avLst/>
          </a:prstGeom>
          <a:noFill/>
          <a:ln/>
        </p:spPr>
        <p:txBody>
          <a:bodyPr wrap="square" lIns="0" tIns="0" rIns="0" bIns="0" rtlCol="0" anchor="ctr"/>
          <a:lstStyle/>
          <a:p>
            <a:pPr indent="0" marL="0">
              <a:buNone/>
            </a:pPr>
            <a:r>
              <a:rPr lang="en-US" sz="1200" b="1" dirty="0">
                <a:solidFill>
                  <a:srgbClr val="35A0F0"/>
                </a:solidFill>
                <a:latin typeface="Calibri" pitchFamily="34" charset="0"/>
                <a:ea typeface="Calibri" pitchFamily="34" charset="-122"/>
                <a:cs typeface="Calibri" pitchFamily="34" charset="-120"/>
              </a:rPr>
              <a:t>Ahead on 19 to 24 of 24 seeds</a:t>
            </a:r>
            <a:endParaRPr lang="en-US" sz="1200" dirty="0"/>
          </a:p>
        </p:txBody>
      </p:sp>
      <p:sp>
        <p:nvSpPr>
          <p:cNvPr id="10" name="Text 7"/>
          <p:cNvSpPr txBox="1"/>
          <p:nvPr/>
        </p:nvSpPr>
        <p:spPr>
          <a:xfrm>
            <a:off x="8485632" y="3611880"/>
            <a:ext cx="2944368" cy="84124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At every icy friction level, with the same wind, the same cold derating and the same seeds for both policies.</a:t>
            </a:r>
            <a:endParaRPr lang="en-US" sz="1050" dirty="0"/>
          </a:p>
        </p:txBody>
      </p:sp>
      <p:sp>
        <p:nvSpPr>
          <p:cNvPr id="11" name="Shape 8"/>
          <p:cNvSpPr/>
          <p:nvPr/>
        </p:nvSpPr>
        <p:spPr>
          <a:xfrm>
            <a:off x="8275320" y="4754880"/>
            <a:ext cx="3364992" cy="1481328"/>
          </a:xfrm>
          <a:prstGeom prst="roundRect">
            <a:avLst>
              <a:gd name="adj" fmla="val 3704"/>
            </a:avLst>
          </a:prstGeom>
          <a:solidFill>
            <a:srgbClr val="0F2739"/>
          </a:solidFill>
          <a:ln w="9525">
            <a:solidFill>
              <a:srgbClr val="1C3B54"/>
            </a:solidFill>
            <a:prstDash val="solid"/>
          </a:ln>
        </p:spPr>
      </p:sp>
      <p:sp>
        <p:nvSpPr>
          <p:cNvPr id="12" name="Text 9"/>
          <p:cNvSpPr txBox="1"/>
          <p:nvPr/>
        </p:nvSpPr>
        <p:spPr>
          <a:xfrm>
            <a:off x="8485632" y="4919472"/>
            <a:ext cx="2944368" cy="292608"/>
          </a:xfrm>
          <a:prstGeom prst="rect">
            <a:avLst/>
          </a:prstGeom>
          <a:noFill/>
          <a:ln/>
        </p:spPr>
        <p:txBody>
          <a:bodyPr wrap="square" lIns="0" tIns="0" rIns="0" bIns="0" rtlCol="0" anchor="ctr"/>
          <a:lstStyle/>
          <a:p>
            <a:pPr indent="0" marL="0">
              <a:buNone/>
            </a:pPr>
            <a:r>
              <a:rPr lang="en-US" sz="1200" b="1" dirty="0">
                <a:solidFill>
                  <a:srgbClr val="35A0F0"/>
                </a:solidFill>
                <a:latin typeface="Calibri" pitchFamily="34" charset="0"/>
                <a:ea typeface="Calibri" pitchFamily="34" charset="-122"/>
                <a:cs typeface="Calibri" pitchFamily="34" charset="-120"/>
              </a:rPr>
              <a:t>Stock Playground never sees this</a:t>
            </a:r>
            <a:endParaRPr lang="en-US" sz="1200" dirty="0"/>
          </a:p>
        </p:txBody>
      </p:sp>
      <p:sp>
        <p:nvSpPr>
          <p:cNvPr id="13" name="Text 10"/>
          <p:cNvSpPr txBox="1"/>
          <p:nvPr/>
        </p:nvSpPr>
        <p:spPr>
          <a:xfrm>
            <a:off x="8485632" y="5248656"/>
            <a:ext cx="2944368" cy="84124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MuJoCo Playground samples floor friction from U(0.4, 1.0). The mountain sits entirely below that band.</a:t>
            </a:r>
            <a:endParaRPr lang="en-US" sz="1050" dirty="0"/>
          </a:p>
        </p:txBody>
      </p:sp>
      <p:sp>
        <p:nvSpPr>
          <p:cNvPr id="14" name="Text 11"/>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15" name="Text 12"/>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EXTREME CONDITION MODELLING</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We replaced the gym floor with the mountain</a:t>
            </a:r>
            <a:endParaRPr lang="en-US" sz="3100" dirty="0"/>
          </a:p>
        </p:txBody>
      </p:sp>
      <p:sp>
        <p:nvSpPr>
          <p:cNvPr id="4" name="Shape 2"/>
          <p:cNvSpPr/>
          <p:nvPr/>
        </p:nvSpPr>
        <p:spPr>
          <a:xfrm>
            <a:off x="548640" y="1481328"/>
            <a:ext cx="5349240" cy="1298448"/>
          </a:xfrm>
          <a:prstGeom prst="roundRect">
            <a:avLst>
              <a:gd name="adj" fmla="val 4225"/>
            </a:avLst>
          </a:prstGeom>
          <a:solidFill>
            <a:srgbClr val="0F2739"/>
          </a:solidFill>
          <a:ln w="9525">
            <a:solidFill>
              <a:srgbClr val="1C3B54"/>
            </a:solidFill>
            <a:prstDash val="solid"/>
          </a:ln>
        </p:spPr>
      </p:sp>
      <p:sp>
        <p:nvSpPr>
          <p:cNvPr id="5" name="Text 3"/>
          <p:cNvSpPr txBox="1"/>
          <p:nvPr/>
        </p:nvSpPr>
        <p:spPr>
          <a:xfrm>
            <a:off x="804672" y="1627632"/>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Ice and packed snow</a:t>
            </a:r>
            <a:endParaRPr lang="en-US" sz="1400" dirty="0"/>
          </a:p>
        </p:txBody>
      </p:sp>
      <p:sp>
        <p:nvSpPr>
          <p:cNvPr id="6" name="Text 4"/>
          <p:cNvSpPr txBox="1"/>
          <p:nvPr/>
        </p:nvSpPr>
        <p:spPr>
          <a:xfrm>
            <a:off x="804672" y="1984248"/>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Contact pair friction over U(0.02, 0.35), against the stock U(0.4, 1.0) of a dry gym floor.</a:t>
            </a:r>
            <a:endParaRPr lang="en-US" sz="1150" dirty="0"/>
          </a:p>
        </p:txBody>
      </p:sp>
      <p:sp>
        <p:nvSpPr>
          <p:cNvPr id="7" name="Shape 5"/>
          <p:cNvSpPr/>
          <p:nvPr/>
        </p:nvSpPr>
        <p:spPr>
          <a:xfrm>
            <a:off x="6291072" y="1481328"/>
            <a:ext cx="5349240" cy="1298448"/>
          </a:xfrm>
          <a:prstGeom prst="roundRect">
            <a:avLst>
              <a:gd name="adj" fmla="val 4225"/>
            </a:avLst>
          </a:prstGeom>
          <a:solidFill>
            <a:srgbClr val="0F2739"/>
          </a:solidFill>
          <a:ln w="9525">
            <a:solidFill>
              <a:srgbClr val="1C3B54"/>
            </a:solidFill>
            <a:prstDash val="solid"/>
          </a:ln>
        </p:spPr>
      </p:sp>
      <p:sp>
        <p:nvSpPr>
          <p:cNvPr id="8" name="Text 6"/>
          <p:cNvSpPr txBox="1"/>
          <p:nvPr/>
        </p:nvSpPr>
        <p:spPr>
          <a:xfrm>
            <a:off x="6547104" y="1627632"/>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Cold, thickened grease</a:t>
            </a:r>
            <a:endParaRPr lang="en-US" sz="1400" dirty="0"/>
          </a:p>
        </p:txBody>
      </p:sp>
      <p:sp>
        <p:nvSpPr>
          <p:cNvPr id="9" name="Text 7"/>
          <p:cNvSpPr txBox="1"/>
          <p:nvPr/>
        </p:nvSpPr>
        <p:spPr>
          <a:xfrm>
            <a:off x="6547104" y="1984248"/>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Joint dry friction × U(1.5, 3.0). Joint damping × U(1.2, 2.0).</a:t>
            </a:r>
            <a:endParaRPr lang="en-US" sz="1150" dirty="0"/>
          </a:p>
        </p:txBody>
      </p:sp>
      <p:sp>
        <p:nvSpPr>
          <p:cNvPr id="10" name="Shape 8"/>
          <p:cNvSpPr/>
          <p:nvPr/>
        </p:nvSpPr>
        <p:spPr>
          <a:xfrm>
            <a:off x="548640" y="2999232"/>
            <a:ext cx="5349240" cy="1298448"/>
          </a:xfrm>
          <a:prstGeom prst="roundRect">
            <a:avLst>
              <a:gd name="adj" fmla="val 4225"/>
            </a:avLst>
          </a:prstGeom>
          <a:solidFill>
            <a:srgbClr val="0F2739"/>
          </a:solidFill>
          <a:ln w="9525">
            <a:solidFill>
              <a:srgbClr val="1C3B54"/>
            </a:solidFill>
            <a:prstDash val="solid"/>
          </a:ln>
        </p:spPr>
      </p:sp>
      <p:sp>
        <p:nvSpPr>
          <p:cNvPr id="11" name="Text 9"/>
          <p:cNvSpPr txBox="1"/>
          <p:nvPr/>
        </p:nvSpPr>
        <p:spPr>
          <a:xfrm>
            <a:off x="804672" y="3145536"/>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Cold, battery sag</a:t>
            </a:r>
            <a:endParaRPr lang="en-US" sz="1400" dirty="0"/>
          </a:p>
        </p:txBody>
      </p:sp>
      <p:sp>
        <p:nvSpPr>
          <p:cNvPr id="12" name="Text 10"/>
          <p:cNvSpPr txBox="1"/>
          <p:nvPr/>
        </p:nvSpPr>
        <p:spPr>
          <a:xfrm>
            <a:off x="804672" y="3502152"/>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Servo gain kp × U(0.7, 0.9), so the actuators answer more weakly than nominal.</a:t>
            </a:r>
            <a:endParaRPr lang="en-US" sz="1150" dirty="0"/>
          </a:p>
        </p:txBody>
      </p:sp>
      <p:sp>
        <p:nvSpPr>
          <p:cNvPr id="13" name="Shape 11"/>
          <p:cNvSpPr/>
          <p:nvPr/>
        </p:nvSpPr>
        <p:spPr>
          <a:xfrm>
            <a:off x="6291072" y="2999232"/>
            <a:ext cx="5349240" cy="1298448"/>
          </a:xfrm>
          <a:prstGeom prst="roundRect">
            <a:avLst>
              <a:gd name="adj" fmla="val 4225"/>
            </a:avLst>
          </a:prstGeom>
          <a:solidFill>
            <a:srgbClr val="0F2739"/>
          </a:solidFill>
          <a:ln w="9525">
            <a:solidFill>
              <a:srgbClr val="1C3B54"/>
            </a:solidFill>
            <a:prstDash val="solid"/>
          </a:ln>
        </p:spPr>
      </p:sp>
      <p:sp>
        <p:nvSpPr>
          <p:cNvPr id="14" name="Text 12"/>
          <p:cNvSpPr txBox="1"/>
          <p:nvPr/>
        </p:nvSpPr>
        <p:spPr>
          <a:xfrm>
            <a:off x="6547104" y="3145536"/>
            <a:ext cx="4837176" cy="310896"/>
          </a:xfrm>
          <a:prstGeom prst="rect">
            <a:avLst/>
          </a:prstGeom>
          <a:noFill/>
          <a:ln/>
        </p:spPr>
        <p:txBody>
          <a:bodyPr wrap="square" lIns="0" tIns="0" rIns="0" bIns="0" rtlCol="0" anchor="ctr"/>
          <a:lstStyle/>
          <a:p>
            <a:pPr indent="0" marL="0">
              <a:buNone/>
            </a:pPr>
            <a:r>
              <a:rPr lang="en-US" sz="1400" b="1" dirty="0">
                <a:solidFill>
                  <a:srgbClr val="35A0F0"/>
                </a:solidFill>
                <a:latin typeface="Calibri" pitchFamily="34" charset="0"/>
                <a:ea typeface="Calibri" pitchFamily="34" charset="-122"/>
                <a:cs typeface="Calibri" pitchFamily="34" charset="-120"/>
              </a:rPr>
              <a:t>Wind as a sustained force</a:t>
            </a:r>
            <a:endParaRPr lang="en-US" sz="1400" dirty="0"/>
          </a:p>
        </p:txBody>
      </p:sp>
      <p:sp>
        <p:nvSpPr>
          <p:cNvPr id="15" name="Text 13"/>
          <p:cNvSpPr txBox="1"/>
          <p:nvPr/>
        </p:nvSpPr>
        <p:spPr>
          <a:xfrm>
            <a:off x="6547104" y="3502152"/>
            <a:ext cx="4837176" cy="932688"/>
          </a:xfrm>
          <a:prstGeom prst="rect">
            <a:avLst/>
          </a:prstGeom>
          <a:noFill/>
          <a:ln/>
        </p:spPr>
        <p:txBody>
          <a:bodyPr wrap="square" lIns="0" tIns="0" rIns="0" bIns="0" rtlCol="0" anchor="t"/>
          <a:lstStyle/>
          <a:p>
            <a:pPr indent="0" marL="0">
              <a:lnSpc>
                <a:spcPct val="115000"/>
              </a:lnSpc>
              <a:buNone/>
            </a:pPr>
            <a:r>
              <a:rPr lang="en-US" sz="1150" dirty="0">
                <a:solidFill>
                  <a:srgbClr val="A9C8DF"/>
                </a:solidFill>
                <a:latin typeface="Calibri" pitchFamily="34" charset="0"/>
                <a:ea typeface="Calibri" pitchFamily="34" charset="-122"/>
                <a:cs typeface="Calibri" pitchFamily="34" charset="-120"/>
              </a:rPr>
              <a:t>A held force on the torso from the drag equation F = 0.5 ρ Cd A v², with gusts drawn from an Ornstein Uhlenbeck process so they stay correlated over about 2 s.</a:t>
            </a:r>
            <a:endParaRPr lang="en-US" sz="1150" dirty="0"/>
          </a:p>
        </p:txBody>
      </p:sp>
      <p:sp>
        <p:nvSpPr>
          <p:cNvPr id="16" name="Shape 14"/>
          <p:cNvSpPr/>
          <p:nvPr/>
        </p:nvSpPr>
        <p:spPr>
          <a:xfrm>
            <a:off x="548640" y="4526280"/>
            <a:ext cx="11094415" cy="1691640"/>
          </a:xfrm>
          <a:prstGeom prst="roundRect">
            <a:avLst>
              <a:gd name="adj" fmla="val 3243"/>
            </a:avLst>
          </a:prstGeom>
          <a:solidFill>
            <a:srgbClr val="16374E"/>
          </a:solidFill>
          <a:ln w="9525">
            <a:solidFill>
              <a:srgbClr val="1C3B54"/>
            </a:solidFill>
            <a:prstDash val="solid"/>
          </a:ln>
        </p:spPr>
      </p:sp>
      <p:sp>
        <p:nvSpPr>
          <p:cNvPr id="17" name="Text 15"/>
          <p:cNvSpPr txBox="1"/>
          <p:nvPr/>
        </p:nvSpPr>
        <p:spPr>
          <a:xfrm>
            <a:off x="841248" y="4709160"/>
            <a:ext cx="4023360" cy="1325880"/>
          </a:xfrm>
          <a:prstGeom prst="rect">
            <a:avLst/>
          </a:prstGeom>
          <a:noFill/>
          <a:ln/>
        </p:spPr>
        <p:txBody>
          <a:bodyPr wrap="square" lIns="0" tIns="0" rIns="0" bIns="0" rtlCol="0" anchor="ctr"/>
          <a:lstStyle/>
          <a:p>
            <a:pPr indent="0" marL="0">
              <a:buNone/>
            </a:pPr>
            <a:r>
              <a:rPr lang="en-US" sz="2100" b="1" dirty="0">
                <a:solidFill>
                  <a:srgbClr val="F2F8FC"/>
                </a:solidFill>
                <a:latin typeface="Cambria" pitchFamily="34" charset="0"/>
                <a:ea typeface="Cambria" pitchFamily="34" charset="-122"/>
                <a:cs typeface="Cambria" pitchFamily="34" charset="-120"/>
              </a:rPr>
              <a:t>348 N of wind against a 327 N robot</a:t>
            </a:r>
            <a:endParaRPr lang="en-US" sz="2100" dirty="0"/>
          </a:p>
        </p:txBody>
      </p:sp>
      <p:sp>
        <p:nvSpPr>
          <p:cNvPr id="18" name="Text 16"/>
          <p:cNvSpPr txBox="1"/>
          <p:nvPr/>
        </p:nvSpPr>
        <p:spPr>
          <a:xfrm>
            <a:off x="4892040" y="4709160"/>
            <a:ext cx="6629400" cy="1325880"/>
          </a:xfrm>
          <a:prstGeom prst="rect">
            <a:avLst/>
          </a:prstGeom>
          <a:noFill/>
          <a:ln/>
        </p:spPr>
        <p:txBody>
          <a:bodyPr wrap="square" lIns="0" tIns="0" rIns="0" bIns="0" rtlCol="0" anchor="ctr"/>
          <a:lstStyle/>
          <a:p>
            <a:pPr indent="0" marL="0">
              <a:lnSpc>
                <a:spcPct val="118000"/>
              </a:lnSpc>
              <a:buNone/>
            </a:pPr>
            <a:r>
              <a:rPr lang="en-US" sz="1150" dirty="0">
                <a:solidFill>
                  <a:srgbClr val="A9C8DF"/>
                </a:solidFill>
                <a:latin typeface="Calibri" pitchFamily="34" charset="0"/>
                <a:ea typeface="Calibri" pitchFamily="34" charset="-122"/>
                <a:cs typeface="Calibri" pitchFamily="34" charset="-120"/>
              </a:rPr>
              <a:t>ρ = 0.45 kg/m³, the air density at about 8000 m, near a third of sea level. At 200 km/h the drag force is a sideways shove slightly harder than gravity, and it is sustained rather than the instantaneous impulse that push_config applies. Surviving a kick is a different skill from leaning into a headwind.</a:t>
            </a:r>
            <a:endParaRPr lang="en-US" sz="1150" dirty="0"/>
          </a:p>
        </p:txBody>
      </p:sp>
      <p:sp>
        <p:nvSpPr>
          <p:cNvPr id="19" name="Text 17"/>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0" name="Text 18"/>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THE FINDING</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Naive domain randomization fails. A curriculum works.</a:t>
            </a:r>
            <a:endParaRPr lang="en-US" sz="3100" dirty="0"/>
          </a:p>
        </p:txBody>
      </p:sp>
      <p:sp>
        <p:nvSpPr>
          <p:cNvPr id="4" name="Shape 2"/>
          <p:cNvSpPr/>
          <p:nvPr/>
        </p:nvSpPr>
        <p:spPr>
          <a:xfrm>
            <a:off x="548640" y="1481328"/>
            <a:ext cx="5349240" cy="3913632"/>
          </a:xfrm>
          <a:prstGeom prst="roundRect">
            <a:avLst>
              <a:gd name="adj" fmla="val 1402"/>
            </a:avLst>
          </a:prstGeom>
          <a:solidFill>
            <a:srgbClr val="0F2739"/>
          </a:solidFill>
          <a:ln w="9525">
            <a:solidFill>
              <a:srgbClr val="1C3B54"/>
            </a:solidFill>
            <a:prstDash val="solid"/>
          </a:ln>
        </p:spPr>
      </p:sp>
      <p:sp>
        <p:nvSpPr>
          <p:cNvPr id="5" name="Text 3"/>
          <p:cNvSpPr txBox="1"/>
          <p:nvPr/>
        </p:nvSpPr>
        <p:spPr>
          <a:xfrm>
            <a:off x="841248" y="1682496"/>
            <a:ext cx="4764024" cy="310896"/>
          </a:xfrm>
          <a:prstGeom prst="rect">
            <a:avLst/>
          </a:prstGeom>
          <a:noFill/>
          <a:ln/>
        </p:spPr>
        <p:txBody>
          <a:bodyPr wrap="square" lIns="0" tIns="0" rIns="0" bIns="0" rtlCol="0" anchor="ctr"/>
          <a:lstStyle/>
          <a:p>
            <a:pPr indent="0" marL="0">
              <a:buNone/>
            </a:pPr>
            <a:r>
              <a:rPr lang="en-US" sz="1350" b="1" dirty="0">
                <a:solidFill>
                  <a:srgbClr val="E0A33C"/>
                </a:solidFill>
                <a:latin typeface="Calibri" pitchFamily="34" charset="0"/>
                <a:ea typeface="Calibri" pitchFamily="34" charset="-122"/>
                <a:cs typeface="Calibri" pitchFamily="34" charset="-120"/>
              </a:rPr>
              <a:t>What diverges</a:t>
            </a:r>
            <a:endParaRPr lang="en-US" sz="1350" dirty="0"/>
          </a:p>
        </p:txBody>
      </p:sp>
      <p:sp>
        <p:nvSpPr>
          <p:cNvPr id="6" name="Text 4"/>
          <p:cNvSpPr txBox="1"/>
          <p:nvPr/>
        </p:nvSpPr>
        <p:spPr>
          <a:xfrm>
            <a:off x="841248" y="2103120"/>
            <a:ext cx="4764024" cy="1005840"/>
          </a:xfrm>
          <a:prstGeom prst="rect">
            <a:avLst/>
          </a:prstGeom>
          <a:noFill/>
          <a:ln/>
        </p:spPr>
        <p:txBody>
          <a:bodyPr wrap="square" lIns="0" tIns="0" rIns="0" bIns="0" rtlCol="0" anchor="t"/>
          <a:lstStyle/>
          <a:p>
            <a:pPr indent="0" marL="0">
              <a:lnSpc>
                <a:spcPct val="120000"/>
              </a:lnSpc>
              <a:buNone/>
            </a:pPr>
            <a:r>
              <a:rPr lang="en-US" sz="1250" dirty="0">
                <a:solidFill>
                  <a:srgbClr val="A9C8DF"/>
                </a:solidFill>
                <a:latin typeface="Calibri" pitchFamily="34" charset="0"/>
                <a:ea typeface="Calibri" pitchFamily="34" charset="-122"/>
                <a:cs typeface="Calibri" pitchFamily="34" charset="-120"/>
              </a:rPr>
              <a:t>Training from scratch on the full ice band does not converge. An exploring policy on near frictionless ground reaches enormous velocities, which produce enormous observations, and the network goes NaN.</a:t>
            </a:r>
            <a:endParaRPr lang="en-US" sz="1250" dirty="0"/>
          </a:p>
        </p:txBody>
      </p:sp>
      <p:sp>
        <p:nvSpPr>
          <p:cNvPr id="7" name="Text 5"/>
          <p:cNvSpPr txBox="1"/>
          <p:nvPr/>
        </p:nvSpPr>
        <p:spPr>
          <a:xfrm>
            <a:off x="841248" y="3246120"/>
            <a:ext cx="4764024" cy="731520"/>
          </a:xfrm>
          <a:prstGeom prst="rect">
            <a:avLst/>
          </a:prstGeom>
          <a:noFill/>
          <a:ln/>
        </p:spPr>
        <p:txBody>
          <a:bodyPr wrap="square" lIns="0" tIns="0" rIns="0" bIns="0" rtlCol="0" anchor="t"/>
          <a:lstStyle/>
          <a:p>
            <a:pPr indent="0" marL="0">
              <a:lnSpc>
                <a:spcPct val="118000"/>
              </a:lnSpc>
              <a:buNone/>
            </a:pPr>
            <a:r>
              <a:rPr lang="en-US" sz="1400" b="1" dirty="0">
                <a:solidFill>
                  <a:srgbClr val="F2F8FC"/>
                </a:solidFill>
                <a:latin typeface="Calibri" pitchFamily="34" charset="0"/>
                <a:ea typeface="Calibri" pitchFamily="34" charset="-122"/>
                <a:cs typeface="Calibri" pitchFamily="34" charset="-120"/>
              </a:rPr>
              <a:t>Our first attempt returned reward = nan at every evaluation across 85M steps.</a:t>
            </a:r>
            <a:endParaRPr lang="en-US" sz="1400" dirty="0"/>
          </a:p>
        </p:txBody>
      </p:sp>
      <p:sp>
        <p:nvSpPr>
          <p:cNvPr id="8" name="Text 6"/>
          <p:cNvSpPr txBox="1"/>
          <p:nvPr/>
        </p:nvSpPr>
        <p:spPr>
          <a:xfrm>
            <a:off x="841248" y="4315968"/>
            <a:ext cx="4764024" cy="822960"/>
          </a:xfrm>
          <a:prstGeom prst="rect">
            <a:avLst/>
          </a:prstGeom>
          <a:noFill/>
          <a:ln/>
        </p:spPr>
        <p:txBody>
          <a:bodyPr wrap="square" lIns="0" tIns="0" rIns="0" bIns="0" rtlCol="0" anchor="t"/>
          <a:lstStyle/>
          <a:p>
            <a:pPr indent="0" marL="0">
              <a:lnSpc>
                <a:spcPct val="115000"/>
              </a:lnSpc>
              <a:buNone/>
            </a:pPr>
            <a:r>
              <a:rPr lang="en-US" sz="1200" i="1" dirty="0">
                <a:solidFill>
                  <a:srgbClr val="6E8CA3"/>
                </a:solidFill>
                <a:latin typeface="Calibri" pitchFamily="34" charset="0"/>
                <a:ea typeface="Calibri" pitchFamily="34" charset="-122"/>
                <a:cs typeface="Calibri" pitchFamily="34" charset="-120"/>
              </a:rPr>
              <a:t>Throwing the whole mountain at an untrained policy produces a NaN, not a mountaineer.</a:t>
            </a:r>
            <a:endParaRPr lang="en-US" sz="1200" dirty="0"/>
          </a:p>
        </p:txBody>
      </p:sp>
      <p:sp>
        <p:nvSpPr>
          <p:cNvPr id="9" name="Shape 7"/>
          <p:cNvSpPr/>
          <p:nvPr/>
        </p:nvSpPr>
        <p:spPr>
          <a:xfrm>
            <a:off x="6291072" y="1481328"/>
            <a:ext cx="5349240" cy="1207008"/>
          </a:xfrm>
          <a:prstGeom prst="roundRect">
            <a:avLst>
              <a:gd name="adj" fmla="val 4545"/>
            </a:avLst>
          </a:prstGeom>
          <a:solidFill>
            <a:srgbClr val="16374E"/>
          </a:solidFill>
          <a:ln w="9525">
            <a:solidFill>
              <a:srgbClr val="1C3B54"/>
            </a:solidFill>
            <a:prstDash val="solid"/>
          </a:ln>
        </p:spPr>
      </p:sp>
      <p:sp>
        <p:nvSpPr>
          <p:cNvPr id="10" name="Shape 8"/>
          <p:cNvSpPr/>
          <p:nvPr/>
        </p:nvSpPr>
        <p:spPr>
          <a:xfrm>
            <a:off x="6537960" y="1746504"/>
            <a:ext cx="457200" cy="457200"/>
          </a:xfrm>
          <a:prstGeom prst="ellipse">
            <a:avLst/>
          </a:prstGeom>
          <a:solidFill>
            <a:srgbClr val="35A0F0"/>
          </a:solidFill>
          <a:ln/>
        </p:spPr>
      </p:sp>
      <p:sp>
        <p:nvSpPr>
          <p:cNvPr id="11" name="Text 9"/>
          <p:cNvSpPr txBox="1"/>
          <p:nvPr/>
        </p:nvSpPr>
        <p:spPr>
          <a:xfrm>
            <a:off x="6537960" y="1746504"/>
            <a:ext cx="457200" cy="457200"/>
          </a:xfrm>
          <a:prstGeom prst="rect">
            <a:avLst/>
          </a:prstGeom>
          <a:noFill/>
          <a:ln/>
        </p:spPr>
        <p:txBody>
          <a:bodyPr wrap="square" lIns="0" tIns="0" rIns="0" bIns="0" rtlCol="0" anchor="ctr"/>
          <a:lstStyle/>
          <a:p>
            <a:pPr algn="ctr" indent="0" marL="0">
              <a:buNone/>
            </a:pPr>
            <a:r>
              <a:rPr lang="en-US" sz="1500" b="1" dirty="0">
                <a:solidFill>
                  <a:srgbClr val="05121E"/>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7178040" y="1737360"/>
            <a:ext cx="4251960" cy="292608"/>
          </a:xfrm>
          <a:prstGeom prst="rect">
            <a:avLst/>
          </a:prstGeom>
          <a:noFill/>
          <a:ln/>
        </p:spPr>
        <p:txBody>
          <a:bodyPr wrap="square" lIns="0" tIns="0" rIns="0" bIns="0" rtlCol="0" anchor="ctr"/>
          <a:lstStyle/>
          <a:p>
            <a:pPr indent="0" marL="0">
              <a:buNone/>
            </a:pPr>
            <a:r>
              <a:rPr lang="en-US" sz="1350" b="1" dirty="0">
                <a:solidFill>
                  <a:srgbClr val="F2F8FC"/>
                </a:solidFill>
                <a:latin typeface="Calibri" pitchFamily="34" charset="0"/>
                <a:ea typeface="Calibri" pitchFamily="34" charset="-122"/>
                <a:cs typeface="Calibri" pitchFamily="34" charset="-120"/>
              </a:rPr>
              <a:t>Learn to walk on normal ground</a:t>
            </a:r>
            <a:endParaRPr lang="en-US" sz="1350" dirty="0"/>
          </a:p>
        </p:txBody>
      </p:sp>
      <p:sp>
        <p:nvSpPr>
          <p:cNvPr id="13" name="Text 11"/>
          <p:cNvSpPr txBox="1"/>
          <p:nvPr/>
        </p:nvSpPr>
        <p:spPr>
          <a:xfrm>
            <a:off x="7178040" y="2057400"/>
            <a:ext cx="4251960" cy="502920"/>
          </a:xfrm>
          <a:prstGeom prst="rect">
            <a:avLst/>
          </a:prstGeom>
          <a:noFill/>
          <a:ln/>
        </p:spPr>
        <p:txBody>
          <a:bodyPr wrap="square" lIns="0" tIns="0" rIns="0" bIns="0" rtlCol="0" anchor="t"/>
          <a:lstStyle/>
          <a:p>
            <a:pPr indent="0" marL="0">
              <a:lnSpc>
                <a:spcPct val="110000"/>
              </a:lnSpc>
              <a:buNone/>
            </a:pPr>
            <a:r>
              <a:rPr lang="en-US" sz="1100" dirty="0">
                <a:solidFill>
                  <a:srgbClr val="A9C8DF"/>
                </a:solidFill>
                <a:latin typeface="Calibri" pitchFamily="34" charset="0"/>
                <a:ea typeface="Calibri" pitchFamily="34" charset="-122"/>
                <a:cs typeface="Calibri" pitchFamily="34" charset="-120"/>
              </a:rPr>
              <a:t>A stable policy first, before any ice is introduced.</a:t>
            </a:r>
            <a:endParaRPr lang="en-US" sz="1100" dirty="0"/>
          </a:p>
        </p:txBody>
      </p:sp>
      <p:sp>
        <p:nvSpPr>
          <p:cNvPr id="14" name="Shape 12"/>
          <p:cNvSpPr/>
          <p:nvPr/>
        </p:nvSpPr>
        <p:spPr>
          <a:xfrm>
            <a:off x="6291072" y="2834640"/>
            <a:ext cx="5349240" cy="1207008"/>
          </a:xfrm>
          <a:prstGeom prst="roundRect">
            <a:avLst>
              <a:gd name="adj" fmla="val 4545"/>
            </a:avLst>
          </a:prstGeom>
          <a:solidFill>
            <a:srgbClr val="16374E"/>
          </a:solidFill>
          <a:ln w="9525">
            <a:solidFill>
              <a:srgbClr val="1C3B54"/>
            </a:solidFill>
            <a:prstDash val="solid"/>
          </a:ln>
        </p:spPr>
      </p:sp>
      <p:sp>
        <p:nvSpPr>
          <p:cNvPr id="15" name="Shape 13"/>
          <p:cNvSpPr/>
          <p:nvPr/>
        </p:nvSpPr>
        <p:spPr>
          <a:xfrm>
            <a:off x="6537960" y="3099816"/>
            <a:ext cx="457200" cy="457200"/>
          </a:xfrm>
          <a:prstGeom prst="ellipse">
            <a:avLst/>
          </a:prstGeom>
          <a:solidFill>
            <a:srgbClr val="35A0F0"/>
          </a:solidFill>
          <a:ln/>
        </p:spPr>
      </p:sp>
      <p:sp>
        <p:nvSpPr>
          <p:cNvPr id="16" name="Text 14"/>
          <p:cNvSpPr txBox="1"/>
          <p:nvPr/>
        </p:nvSpPr>
        <p:spPr>
          <a:xfrm>
            <a:off x="6537960" y="3099816"/>
            <a:ext cx="457200" cy="457200"/>
          </a:xfrm>
          <a:prstGeom prst="rect">
            <a:avLst/>
          </a:prstGeom>
          <a:noFill/>
          <a:ln/>
        </p:spPr>
        <p:txBody>
          <a:bodyPr wrap="square" lIns="0" tIns="0" rIns="0" bIns="0" rtlCol="0" anchor="ctr"/>
          <a:lstStyle/>
          <a:p>
            <a:pPr algn="ctr" indent="0" marL="0">
              <a:buNone/>
            </a:pPr>
            <a:r>
              <a:rPr lang="en-US" sz="1500" b="1" dirty="0">
                <a:solidFill>
                  <a:srgbClr val="05121E"/>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7178040" y="3090672"/>
            <a:ext cx="4251960" cy="292608"/>
          </a:xfrm>
          <a:prstGeom prst="rect">
            <a:avLst/>
          </a:prstGeom>
          <a:noFill/>
          <a:ln/>
        </p:spPr>
        <p:txBody>
          <a:bodyPr wrap="square" lIns="0" tIns="0" rIns="0" bIns="0" rtlCol="0" anchor="ctr"/>
          <a:lstStyle/>
          <a:p>
            <a:pPr indent="0" marL="0">
              <a:buNone/>
            </a:pPr>
            <a:r>
              <a:rPr lang="en-US" sz="1350" b="1" dirty="0">
                <a:solidFill>
                  <a:srgbClr val="F2F8FC"/>
                </a:solidFill>
                <a:latin typeface="Calibri" pitchFamily="34" charset="0"/>
                <a:ea typeface="Calibri" pitchFamily="34" charset="-122"/>
                <a:cs typeface="Calibri" pitchFamily="34" charset="-120"/>
              </a:rPr>
              <a:t>Warm start onto ice</a:t>
            </a:r>
            <a:endParaRPr lang="en-US" sz="1350" dirty="0"/>
          </a:p>
        </p:txBody>
      </p:sp>
      <p:sp>
        <p:nvSpPr>
          <p:cNvPr id="18" name="Text 16"/>
          <p:cNvSpPr txBox="1"/>
          <p:nvPr/>
        </p:nvSpPr>
        <p:spPr>
          <a:xfrm>
            <a:off x="7178040" y="3410712"/>
            <a:ext cx="4251960" cy="502920"/>
          </a:xfrm>
          <a:prstGeom prst="rect">
            <a:avLst/>
          </a:prstGeom>
          <a:noFill/>
          <a:ln/>
        </p:spPr>
        <p:txBody>
          <a:bodyPr wrap="square" lIns="0" tIns="0" rIns="0" bIns="0" rtlCol="0" anchor="t"/>
          <a:lstStyle/>
          <a:p>
            <a:pPr indent="0" marL="0">
              <a:lnSpc>
                <a:spcPct val="110000"/>
              </a:lnSpc>
              <a:buNone/>
            </a:pPr>
            <a:r>
              <a:rPr lang="en-US" sz="1100" dirty="0">
                <a:solidFill>
                  <a:srgbClr val="A9C8DF"/>
                </a:solidFill>
                <a:latin typeface="Calibri" pitchFamily="34" charset="0"/>
                <a:ea typeface="Calibri" pitchFamily="34" charset="-122"/>
                <a:cs typeface="Calibri" pitchFamily="34" charset="-120"/>
              </a:rPr>
              <a:t>The friction band annealed downward from there, observations clipped.</a:t>
            </a:r>
            <a:endParaRPr lang="en-US" sz="1100" dirty="0"/>
          </a:p>
        </p:txBody>
      </p:sp>
      <p:sp>
        <p:nvSpPr>
          <p:cNvPr id="19" name="Shape 17"/>
          <p:cNvSpPr/>
          <p:nvPr/>
        </p:nvSpPr>
        <p:spPr>
          <a:xfrm>
            <a:off x="6291072" y="4187952"/>
            <a:ext cx="5349240" cy="1207008"/>
          </a:xfrm>
          <a:prstGeom prst="roundRect">
            <a:avLst>
              <a:gd name="adj" fmla="val 4545"/>
            </a:avLst>
          </a:prstGeom>
          <a:solidFill>
            <a:srgbClr val="16374E"/>
          </a:solidFill>
          <a:ln w="9525">
            <a:solidFill>
              <a:srgbClr val="1C3B54"/>
            </a:solidFill>
            <a:prstDash val="solid"/>
          </a:ln>
        </p:spPr>
      </p:sp>
      <p:sp>
        <p:nvSpPr>
          <p:cNvPr id="20" name="Shape 18"/>
          <p:cNvSpPr/>
          <p:nvPr/>
        </p:nvSpPr>
        <p:spPr>
          <a:xfrm>
            <a:off x="6537960" y="4453128"/>
            <a:ext cx="457200" cy="457200"/>
          </a:xfrm>
          <a:prstGeom prst="ellipse">
            <a:avLst/>
          </a:prstGeom>
          <a:solidFill>
            <a:srgbClr val="35A0F0"/>
          </a:solidFill>
          <a:ln/>
        </p:spPr>
      </p:sp>
      <p:sp>
        <p:nvSpPr>
          <p:cNvPr id="21" name="Text 19"/>
          <p:cNvSpPr txBox="1"/>
          <p:nvPr/>
        </p:nvSpPr>
        <p:spPr>
          <a:xfrm>
            <a:off x="6537960" y="4453128"/>
            <a:ext cx="457200" cy="457200"/>
          </a:xfrm>
          <a:prstGeom prst="rect">
            <a:avLst/>
          </a:prstGeom>
          <a:noFill/>
          <a:ln/>
        </p:spPr>
        <p:txBody>
          <a:bodyPr wrap="square" lIns="0" tIns="0" rIns="0" bIns="0" rtlCol="0" anchor="ctr"/>
          <a:lstStyle/>
          <a:p>
            <a:pPr algn="ctr" indent="0" marL="0">
              <a:buNone/>
            </a:pPr>
            <a:r>
              <a:rPr lang="en-US" sz="1500" b="1" dirty="0">
                <a:solidFill>
                  <a:srgbClr val="05121E"/>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7178040" y="4443984"/>
            <a:ext cx="4251960" cy="292608"/>
          </a:xfrm>
          <a:prstGeom prst="rect">
            <a:avLst/>
          </a:prstGeom>
          <a:noFill/>
          <a:ln/>
        </p:spPr>
        <p:txBody>
          <a:bodyPr wrap="square" lIns="0" tIns="0" rIns="0" bIns="0" rtlCol="0" anchor="ctr"/>
          <a:lstStyle/>
          <a:p>
            <a:pPr indent="0" marL="0">
              <a:buNone/>
            </a:pPr>
            <a:r>
              <a:rPr lang="en-US" sz="1350" b="1" dirty="0">
                <a:solidFill>
                  <a:srgbClr val="F2F8FC"/>
                </a:solidFill>
                <a:latin typeface="Calibri" pitchFamily="34" charset="0"/>
                <a:ea typeface="Calibri" pitchFamily="34" charset="-122"/>
                <a:cs typeface="Calibri" pitchFamily="34" charset="-120"/>
              </a:rPr>
              <a:t>Hold the full wind back</a:t>
            </a:r>
            <a:endParaRPr lang="en-US" sz="1350" dirty="0"/>
          </a:p>
        </p:txBody>
      </p:sp>
      <p:sp>
        <p:nvSpPr>
          <p:cNvPr id="23" name="Text 21"/>
          <p:cNvSpPr txBox="1"/>
          <p:nvPr/>
        </p:nvSpPr>
        <p:spPr>
          <a:xfrm>
            <a:off x="7178040" y="4764024"/>
            <a:ext cx="4251960" cy="502920"/>
          </a:xfrm>
          <a:prstGeom prst="rect">
            <a:avLst/>
          </a:prstGeom>
          <a:noFill/>
          <a:ln/>
        </p:spPr>
        <p:txBody>
          <a:bodyPr wrap="square" lIns="0" tIns="0" rIns="0" bIns="0" rtlCol="0" anchor="t"/>
          <a:lstStyle/>
          <a:p>
            <a:pPr indent="0" marL="0">
              <a:lnSpc>
                <a:spcPct val="110000"/>
              </a:lnSpc>
              <a:buNone/>
            </a:pPr>
            <a:r>
              <a:rPr lang="en-US" sz="1100" dirty="0">
                <a:solidFill>
                  <a:srgbClr val="A9C8DF"/>
                </a:solidFill>
                <a:latin typeface="Calibri" pitchFamily="34" charset="0"/>
                <a:ea typeface="Calibri" pitchFamily="34" charset="-122"/>
                <a:cs typeface="Calibri" pitchFamily="34" charset="-120"/>
              </a:rPr>
              <a:t>200 km/h stays an evaluation condition, never a training one.</a:t>
            </a:r>
            <a:endParaRPr lang="en-US" sz="1100" dirty="0"/>
          </a:p>
        </p:txBody>
      </p:sp>
      <p:sp>
        <p:nvSpPr>
          <p:cNvPr id="24" name="Text 22"/>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5" name="Text 23"/>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ENGINEERING FINDING</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Walking and getting up want incompatible collision models</a:t>
            </a:r>
            <a:endParaRPr lang="en-US" sz="3100" dirty="0"/>
          </a:p>
        </p:txBody>
      </p:sp>
      <p:sp>
        <p:nvSpPr>
          <p:cNvPr id="4" name="Text 2"/>
          <p:cNvSpPr txBox="1"/>
          <p:nvPr/>
        </p:nvSpPr>
        <p:spPr>
          <a:xfrm>
            <a:off x="548640" y="1207008"/>
            <a:ext cx="11094415" cy="310896"/>
          </a:xfrm>
          <a:prstGeom prst="rect">
            <a:avLst/>
          </a:prstGeom>
          <a:noFill/>
          <a:ln/>
        </p:spPr>
        <p:txBody>
          <a:bodyPr wrap="square" lIns="0" tIns="0" rIns="0" bIns="0" rtlCol="0" anchor="ctr"/>
          <a:lstStyle/>
          <a:p>
            <a:pPr indent="0" marL="0">
              <a:buNone/>
            </a:pPr>
            <a:r>
              <a:rPr lang="en-US" sz="1300" dirty="0">
                <a:solidFill>
                  <a:srgbClr val="A9C8DF"/>
                </a:solidFill>
                <a:latin typeface="Calibri" pitchFamily="34" charset="0"/>
                <a:ea typeface="Calibri" pitchFamily="34" charset="-122"/>
                <a:cs typeface="Calibri" pitchFamily="34" charset="-120"/>
              </a:rPr>
              <a:t>A MuJoCo model cannot change its collision set in the middle of an episode, so the two skills fight over one scene.</a:t>
            </a:r>
            <a:endParaRPr lang="en-US" sz="1300" dirty="0"/>
          </a:p>
        </p:txBody>
      </p:sp>
      <p:sp>
        <p:nvSpPr>
          <p:cNvPr id="5" name="Text 3"/>
          <p:cNvSpPr txBox="1"/>
          <p:nvPr/>
        </p:nvSpPr>
        <p:spPr>
          <a:xfrm>
            <a:off x="548640" y="1783080"/>
            <a:ext cx="5349240" cy="274320"/>
          </a:xfrm>
          <a:prstGeom prst="rect">
            <a:avLst/>
          </a:prstGeom>
          <a:noFill/>
          <a:ln/>
        </p:spPr>
        <p:txBody>
          <a:bodyPr wrap="square" lIns="0" tIns="0" rIns="0" bIns="0" rtlCol="0" anchor="ctr"/>
          <a:lstStyle/>
          <a:p>
            <a:pPr indent="0" marL="0">
              <a:buNone/>
            </a:pPr>
            <a:r>
              <a:rPr lang="en-US" sz="1100" b="1" spc="120" kern="0" dirty="0">
                <a:solidFill>
                  <a:srgbClr val="6E8CA3"/>
                </a:solidFill>
                <a:latin typeface="Calibri" pitchFamily="34" charset="0"/>
                <a:ea typeface="Calibri" pitchFamily="34" charset="-122"/>
                <a:cs typeface="Calibri" pitchFamily="34" charset="-120"/>
              </a:rPr>
              <a:t>Flat scene</a:t>
            </a:r>
            <a:endParaRPr lang="en-US" sz="1100" dirty="0"/>
          </a:p>
        </p:txBody>
      </p:sp>
      <p:sp>
        <p:nvSpPr>
          <p:cNvPr id="6" name="Shape 4"/>
          <p:cNvSpPr/>
          <p:nvPr/>
        </p:nvSpPr>
        <p:spPr>
          <a:xfrm>
            <a:off x="548640" y="2176272"/>
            <a:ext cx="5349240" cy="1225296"/>
          </a:xfrm>
          <a:prstGeom prst="roundRect">
            <a:avLst>
              <a:gd name="adj" fmla="val 4478"/>
            </a:avLst>
          </a:prstGeom>
          <a:solidFill>
            <a:srgbClr val="0F2739"/>
          </a:solidFill>
          <a:ln w="9525">
            <a:solidFill>
              <a:srgbClr val="1C3B54"/>
            </a:solidFill>
            <a:prstDash val="solid"/>
          </a:ln>
        </p:spPr>
      </p:sp>
      <p:sp>
        <p:nvSpPr>
          <p:cNvPr id="7" name="Text 5"/>
          <p:cNvSpPr txBox="1"/>
          <p:nvPr/>
        </p:nvSpPr>
        <p:spPr>
          <a:xfrm>
            <a:off x="804672" y="2450592"/>
            <a:ext cx="1691640" cy="548640"/>
          </a:xfrm>
          <a:prstGeom prst="rect">
            <a:avLst/>
          </a:prstGeom>
          <a:noFill/>
          <a:ln/>
        </p:spPr>
        <p:txBody>
          <a:bodyPr wrap="square" lIns="0" tIns="0" rIns="0" bIns="0" rtlCol="0" anchor="ctr"/>
          <a:lstStyle/>
          <a:p>
            <a:pPr indent="0" marL="0">
              <a:buNone/>
            </a:pPr>
            <a:r>
              <a:rPr lang="en-US" sz="2700" b="1" dirty="0">
                <a:solidFill>
                  <a:srgbClr val="E0A33C"/>
                </a:solidFill>
                <a:latin typeface="Cambria" pitchFamily="34" charset="0"/>
                <a:ea typeface="Cambria" pitchFamily="34" charset="-122"/>
                <a:cs typeface="Cambria" pitchFamily="34" charset="-120"/>
              </a:rPr>
              <a:t>0.81 m</a:t>
            </a:r>
            <a:endParaRPr lang="en-US" sz="2700" dirty="0"/>
          </a:p>
        </p:txBody>
      </p:sp>
      <p:sp>
        <p:nvSpPr>
          <p:cNvPr id="8" name="Text 6"/>
          <p:cNvSpPr txBox="1"/>
          <p:nvPr/>
        </p:nvSpPr>
        <p:spPr>
          <a:xfrm>
            <a:off x="2560320" y="2423160"/>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every collision geom active</a:t>
            </a:r>
            <a:endParaRPr lang="en-US" sz="1250" dirty="0"/>
          </a:p>
        </p:txBody>
      </p:sp>
      <p:sp>
        <p:nvSpPr>
          <p:cNvPr id="9" name="Text 7"/>
          <p:cNvSpPr txBox="1"/>
          <p:nvPr/>
        </p:nvSpPr>
        <p:spPr>
          <a:xfrm>
            <a:off x="2560320" y="2734056"/>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shin and torso capsules catch on the terrain, the robot stays crouched</a:t>
            </a:r>
            <a:endParaRPr lang="en-US" sz="1050" dirty="0"/>
          </a:p>
        </p:txBody>
      </p:sp>
      <p:sp>
        <p:nvSpPr>
          <p:cNvPr id="10" name="Shape 8"/>
          <p:cNvSpPr/>
          <p:nvPr/>
        </p:nvSpPr>
        <p:spPr>
          <a:xfrm>
            <a:off x="548640" y="3566160"/>
            <a:ext cx="5349240" cy="1225296"/>
          </a:xfrm>
          <a:prstGeom prst="roundRect">
            <a:avLst>
              <a:gd name="adj" fmla="val 4478"/>
            </a:avLst>
          </a:prstGeom>
          <a:solidFill>
            <a:srgbClr val="0F2739"/>
          </a:solidFill>
          <a:ln w="9525">
            <a:solidFill>
              <a:srgbClr val="1C3B54"/>
            </a:solidFill>
            <a:prstDash val="solid"/>
          </a:ln>
        </p:spPr>
      </p:sp>
      <p:sp>
        <p:nvSpPr>
          <p:cNvPr id="11" name="Text 9"/>
          <p:cNvSpPr txBox="1"/>
          <p:nvPr/>
        </p:nvSpPr>
        <p:spPr>
          <a:xfrm>
            <a:off x="804672" y="3840480"/>
            <a:ext cx="1691640" cy="54864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7.30 m</a:t>
            </a:r>
            <a:endParaRPr lang="en-US" sz="2700" dirty="0"/>
          </a:p>
        </p:txBody>
      </p:sp>
      <p:sp>
        <p:nvSpPr>
          <p:cNvPr id="12" name="Text 10"/>
          <p:cNvSpPr txBox="1"/>
          <p:nvPr/>
        </p:nvSpPr>
        <p:spPr>
          <a:xfrm>
            <a:off x="2560320" y="3813048"/>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feet only contact</a:t>
            </a:r>
            <a:endParaRPr lang="en-US" sz="1250" dirty="0"/>
          </a:p>
        </p:txBody>
      </p:sp>
      <p:sp>
        <p:nvSpPr>
          <p:cNvPr id="13" name="Text 11"/>
          <p:cNvSpPr txBox="1"/>
          <p:nvPr/>
        </p:nvSpPr>
        <p:spPr>
          <a:xfrm>
            <a:off x="2560320" y="4123944"/>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walks upright</a:t>
            </a:r>
            <a:endParaRPr lang="en-US" sz="1050" dirty="0"/>
          </a:p>
        </p:txBody>
      </p:sp>
      <p:sp>
        <p:nvSpPr>
          <p:cNvPr id="14" name="Text 12"/>
          <p:cNvSpPr txBox="1"/>
          <p:nvPr/>
        </p:nvSpPr>
        <p:spPr>
          <a:xfrm>
            <a:off x="6291072" y="1783080"/>
            <a:ext cx="5349240" cy="274320"/>
          </a:xfrm>
          <a:prstGeom prst="rect">
            <a:avLst/>
          </a:prstGeom>
          <a:noFill/>
          <a:ln/>
        </p:spPr>
        <p:txBody>
          <a:bodyPr wrap="square" lIns="0" tIns="0" rIns="0" bIns="0" rtlCol="0" anchor="ctr"/>
          <a:lstStyle/>
          <a:p>
            <a:pPr indent="0" marL="0">
              <a:buNone/>
            </a:pPr>
            <a:r>
              <a:rPr lang="en-US" sz="1100" b="1" spc="120" kern="0" dirty="0">
                <a:solidFill>
                  <a:srgbClr val="6E8CA3"/>
                </a:solidFill>
                <a:latin typeface="Calibri" pitchFamily="34" charset="0"/>
                <a:ea typeface="Calibri" pitchFamily="34" charset="-122"/>
                <a:cs typeface="Calibri" pitchFamily="34" charset="-120"/>
              </a:rPr>
              <a:t>Everest terrain</a:t>
            </a:r>
            <a:endParaRPr lang="en-US" sz="1100" dirty="0"/>
          </a:p>
        </p:txBody>
      </p:sp>
      <p:sp>
        <p:nvSpPr>
          <p:cNvPr id="15" name="Shape 13"/>
          <p:cNvSpPr/>
          <p:nvPr/>
        </p:nvSpPr>
        <p:spPr>
          <a:xfrm>
            <a:off x="6291072" y="2176272"/>
            <a:ext cx="5349240" cy="1225296"/>
          </a:xfrm>
          <a:prstGeom prst="roundRect">
            <a:avLst>
              <a:gd name="adj" fmla="val 4478"/>
            </a:avLst>
          </a:prstGeom>
          <a:solidFill>
            <a:srgbClr val="0F2739"/>
          </a:solidFill>
          <a:ln w="9525">
            <a:solidFill>
              <a:srgbClr val="1C3B54"/>
            </a:solidFill>
            <a:prstDash val="solid"/>
          </a:ln>
        </p:spPr>
      </p:sp>
      <p:sp>
        <p:nvSpPr>
          <p:cNvPr id="16" name="Text 14"/>
          <p:cNvSpPr txBox="1"/>
          <p:nvPr/>
        </p:nvSpPr>
        <p:spPr>
          <a:xfrm>
            <a:off x="6547104" y="2450592"/>
            <a:ext cx="1691640" cy="548640"/>
          </a:xfrm>
          <a:prstGeom prst="rect">
            <a:avLst/>
          </a:prstGeom>
          <a:noFill/>
          <a:ln/>
        </p:spPr>
        <p:txBody>
          <a:bodyPr wrap="square" lIns="0" tIns="0" rIns="0" bIns="0" rtlCol="0" anchor="ctr"/>
          <a:lstStyle/>
          <a:p>
            <a:pPr indent="0" marL="0">
              <a:buNone/>
            </a:pPr>
            <a:r>
              <a:rPr lang="en-US" sz="2700" b="1" dirty="0">
                <a:solidFill>
                  <a:srgbClr val="E0A33C"/>
                </a:solidFill>
                <a:latin typeface="Cambria" pitchFamily="34" charset="0"/>
                <a:ea typeface="Cambria" pitchFamily="34" charset="-122"/>
                <a:cs typeface="Cambria" pitchFamily="34" charset="-120"/>
              </a:rPr>
              <a:t>2.09 m</a:t>
            </a:r>
            <a:endParaRPr lang="en-US" sz="2700" dirty="0"/>
          </a:p>
        </p:txBody>
      </p:sp>
      <p:sp>
        <p:nvSpPr>
          <p:cNvPr id="17" name="Text 15"/>
          <p:cNvSpPr txBox="1"/>
          <p:nvPr/>
        </p:nvSpPr>
        <p:spPr>
          <a:xfrm>
            <a:off x="8302752" y="2423160"/>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with knee contact</a:t>
            </a:r>
            <a:endParaRPr lang="en-US" sz="1250" dirty="0"/>
          </a:p>
        </p:txBody>
      </p:sp>
      <p:sp>
        <p:nvSpPr>
          <p:cNvPr id="18" name="Text 16"/>
          <p:cNvSpPr txBox="1"/>
          <p:nvPr/>
        </p:nvSpPr>
        <p:spPr>
          <a:xfrm>
            <a:off x="8302752" y="2734056"/>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falls at step 249</a:t>
            </a:r>
            <a:endParaRPr lang="en-US" sz="1050" dirty="0"/>
          </a:p>
        </p:txBody>
      </p:sp>
      <p:sp>
        <p:nvSpPr>
          <p:cNvPr id="19" name="Shape 17"/>
          <p:cNvSpPr/>
          <p:nvPr/>
        </p:nvSpPr>
        <p:spPr>
          <a:xfrm>
            <a:off x="6291072" y="3566160"/>
            <a:ext cx="5349240" cy="1225296"/>
          </a:xfrm>
          <a:prstGeom prst="roundRect">
            <a:avLst>
              <a:gd name="adj" fmla="val 4478"/>
            </a:avLst>
          </a:prstGeom>
          <a:solidFill>
            <a:srgbClr val="0F2739"/>
          </a:solidFill>
          <a:ln w="9525">
            <a:solidFill>
              <a:srgbClr val="1C3B54"/>
            </a:solidFill>
            <a:prstDash val="solid"/>
          </a:ln>
        </p:spPr>
      </p:sp>
      <p:sp>
        <p:nvSpPr>
          <p:cNvPr id="20" name="Text 18"/>
          <p:cNvSpPr txBox="1"/>
          <p:nvPr/>
        </p:nvSpPr>
        <p:spPr>
          <a:xfrm>
            <a:off x="6547104" y="3840480"/>
            <a:ext cx="1691640" cy="548640"/>
          </a:xfrm>
          <a:prstGeom prst="rect">
            <a:avLst/>
          </a:prstGeom>
          <a:noFill/>
          <a:ln/>
        </p:spPr>
        <p:txBody>
          <a:bodyPr wrap="square" lIns="0" tIns="0" rIns="0" bIns="0" rtlCol="0" anchor="ctr"/>
          <a:lstStyle/>
          <a:p>
            <a:pPr indent="0" marL="0">
              <a:buNone/>
            </a:pPr>
            <a:r>
              <a:rPr lang="en-US" sz="2700" b="1" dirty="0">
                <a:solidFill>
                  <a:srgbClr val="35A0F0"/>
                </a:solidFill>
                <a:latin typeface="Cambria" pitchFamily="34" charset="0"/>
                <a:ea typeface="Cambria" pitchFamily="34" charset="-122"/>
                <a:cs typeface="Cambria" pitchFamily="34" charset="-120"/>
              </a:rPr>
              <a:t>18.40 m</a:t>
            </a:r>
            <a:endParaRPr lang="en-US" sz="2700" dirty="0"/>
          </a:p>
        </p:txBody>
      </p:sp>
      <p:sp>
        <p:nvSpPr>
          <p:cNvPr id="21" name="Text 19"/>
          <p:cNvSpPr txBox="1"/>
          <p:nvPr/>
        </p:nvSpPr>
        <p:spPr>
          <a:xfrm>
            <a:off x="8302752" y="3813048"/>
            <a:ext cx="3108960" cy="292608"/>
          </a:xfrm>
          <a:prstGeom prst="rect">
            <a:avLst/>
          </a:prstGeom>
          <a:noFill/>
          <a:ln/>
        </p:spPr>
        <p:txBody>
          <a:bodyPr wrap="square" lIns="0" tIns="0" rIns="0" bIns="0" rtlCol="0" anchor="ctr"/>
          <a:lstStyle/>
          <a:p>
            <a:pPr indent="0" marL="0">
              <a:buNone/>
            </a:pPr>
            <a:r>
              <a:rPr lang="en-US" sz="1250" b="1" dirty="0">
                <a:solidFill>
                  <a:srgbClr val="F2F8FC"/>
                </a:solidFill>
                <a:latin typeface="Calibri" pitchFamily="34" charset="0"/>
                <a:ea typeface="Calibri" pitchFamily="34" charset="-122"/>
                <a:cs typeface="Calibri" pitchFamily="34" charset="-120"/>
              </a:rPr>
              <a:t>no knee contact</a:t>
            </a:r>
            <a:endParaRPr lang="en-US" sz="1250" dirty="0"/>
          </a:p>
        </p:txBody>
      </p:sp>
      <p:sp>
        <p:nvSpPr>
          <p:cNvPr id="22" name="Text 20"/>
          <p:cNvSpPr txBox="1"/>
          <p:nvPr/>
        </p:nvSpPr>
        <p:spPr>
          <a:xfrm>
            <a:off x="8302752" y="4123944"/>
            <a:ext cx="3108960" cy="512064"/>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hikes the moraine</a:t>
            </a:r>
            <a:endParaRPr lang="en-US" sz="1050" dirty="0"/>
          </a:p>
        </p:txBody>
      </p:sp>
      <p:sp>
        <p:nvSpPr>
          <p:cNvPr id="23" name="Shape 21"/>
          <p:cNvSpPr/>
          <p:nvPr/>
        </p:nvSpPr>
        <p:spPr>
          <a:xfrm>
            <a:off x="548640" y="5047488"/>
            <a:ext cx="11094415" cy="1170432"/>
          </a:xfrm>
          <a:prstGeom prst="roundRect">
            <a:avLst>
              <a:gd name="adj" fmla="val 4688"/>
            </a:avLst>
          </a:prstGeom>
          <a:solidFill>
            <a:srgbClr val="16374E"/>
          </a:solidFill>
          <a:ln w="9525">
            <a:solidFill>
              <a:srgbClr val="1C3B54"/>
            </a:solidFill>
            <a:prstDash val="solid"/>
          </a:ln>
        </p:spPr>
      </p:sp>
      <p:sp>
        <p:nvSpPr>
          <p:cNvPr id="24" name="Text 22"/>
          <p:cNvSpPr txBox="1"/>
          <p:nvPr/>
        </p:nvSpPr>
        <p:spPr>
          <a:xfrm>
            <a:off x="841248" y="5193792"/>
            <a:ext cx="10509199" cy="877824"/>
          </a:xfrm>
          <a:prstGeom prst="rect">
            <a:avLst/>
          </a:prstGeom>
          <a:noFill/>
          <a:ln/>
        </p:spPr>
        <p:txBody>
          <a:bodyPr wrap="square" lIns="0" tIns="0" rIns="0" bIns="0" rtlCol="0" anchor="ctr"/>
          <a:lstStyle/>
          <a:p>
            <a:pPr indent="0" marL="0">
              <a:lnSpc>
                <a:spcPct val="115000"/>
              </a:lnSpc>
              <a:buNone/>
            </a:pPr>
            <a:r>
              <a:rPr lang="en-US" sz="1250" b="1" dirty="0">
                <a:solidFill>
                  <a:srgbClr val="35A0F0"/>
                </a:solidFill>
                <a:latin typeface="Calibri" pitchFamily="34" charset="0"/>
                <a:ea typeface="Calibri" pitchFamily="34" charset="-122"/>
                <a:cs typeface="Calibri" pitchFamily="34" charset="-120"/>
              </a:rPr>
              <a:t>Resolved with collision bitmasks.  </a:t>
            </a:r>
            <a:pPr indent="0" marL="0">
              <a:lnSpc>
                <a:spcPct val="115000"/>
              </a:lnSpc>
              <a:buNone/>
            </a:pPr>
            <a:r>
              <a:rPr lang="en-US" sz="1250" dirty="0">
                <a:solidFill>
                  <a:srgbClr val="A9C8DF"/>
                </a:solidFill>
                <a:latin typeface="Calibri" pitchFamily="34" charset="0"/>
                <a:ea typeface="Calibri" pitchFamily="34" charset="-122"/>
                <a:cs typeface="Calibri" pitchFamily="34" charset="-120"/>
              </a:rPr>
              <a:t>The robot capsules meet the terrain but never each other, so one scene serves the walking policy without the self collisions that pin it to a crouch.</a:t>
            </a:r>
            <a:endParaRPr lang="en-US" sz="1250" dirty="0"/>
          </a:p>
        </p:txBody>
      </p:sp>
      <p:sp>
        <p:nvSpPr>
          <p:cNvPr id="25" name="Text 23"/>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6" name="Text 24"/>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THE ENVIRONMENT WE BUILT</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The Everest Base Camp approach, built from the real route</a:t>
            </a:r>
            <a:endParaRPr lang="en-US" sz="3100" dirty="0"/>
          </a:p>
        </p:txBody>
      </p:sp>
      <p:pic>
        <p:nvPicPr>
          <p:cNvPr id="4" name="Image 0" descr="C:/Users/zubai/AppData/Local/Temp/claude/C--Users-zubai-Downloads-dep-graph/351d714d-913f-4f1c-98bd-e1d4c65ece62/scratchpad/ev_trail_crop.png">    </p:cNvPr>
          <p:cNvPicPr>
            <a:picLocks noChangeAspect="1"/>
          </p:cNvPicPr>
          <p:nvPr/>
        </p:nvPicPr>
        <p:blipFill>
          <a:blip r:embed="rId1"/>
          <a:stretch>
            <a:fillRect/>
          </a:stretch>
        </p:blipFill>
        <p:spPr>
          <a:xfrm>
            <a:off x="548640" y="1371600"/>
            <a:ext cx="5394960" cy="3035808"/>
          </a:xfrm>
          <a:prstGeom prst="rect">
            <a:avLst/>
          </a:prstGeom>
        </p:spPr>
      </p:pic>
      <p:pic>
        <p:nvPicPr>
          <p:cNvPr id="5" name="Image 1" descr="C:/Users/zubai/AppData/Local/Temp/claude/C--Users-zubai-Downloads-dep-graph/351d714d-913f-4f1c-98bd-e1d4c65ece62/scratchpad/everest_frame_crop.png">    </p:cNvPr>
          <p:cNvPicPr>
            <a:picLocks noChangeAspect="1"/>
          </p:cNvPicPr>
          <p:nvPr/>
        </p:nvPicPr>
        <p:blipFill>
          <a:blip r:embed="rId2"/>
          <a:stretch>
            <a:fillRect/>
          </a:stretch>
        </p:blipFill>
        <p:spPr>
          <a:xfrm>
            <a:off x="6245352" y="1371600"/>
            <a:ext cx="5394960" cy="3035808"/>
          </a:xfrm>
          <a:prstGeom prst="rect">
            <a:avLst/>
          </a:prstGeom>
        </p:spPr>
      </p:pic>
      <p:sp>
        <p:nvSpPr>
          <p:cNvPr id="6" name="Text 2"/>
          <p:cNvSpPr txBox="1"/>
          <p:nvPr/>
        </p:nvSpPr>
        <p:spPr>
          <a:xfrm>
            <a:off x="548640" y="4480560"/>
            <a:ext cx="5394960" cy="566928"/>
          </a:xfrm>
          <a:prstGeom prst="rect">
            <a:avLst/>
          </a:prstGeom>
          <a:noFill/>
          <a:ln/>
        </p:spPr>
        <p:txBody>
          <a:bodyPr wrap="square" lIns="0" tIns="0" rIns="0" bIns="0" rtlCol="0" anchor="t"/>
          <a:lstStyle/>
          <a:p>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The trek follows the lateral moraine of the Khumbu Glacier, a rock debris ridge. Ice seracs flank the trail near Base Camp and the Everest and Nuptse walls rise behind.</a:t>
            </a:r>
            <a:endParaRPr lang="en-US" sz="1050" dirty="0"/>
          </a:p>
        </p:txBody>
      </p:sp>
      <p:sp>
        <p:nvSpPr>
          <p:cNvPr id="7" name="Text 3"/>
          <p:cNvSpPr txBox="1"/>
          <p:nvPr/>
        </p:nvSpPr>
        <p:spPr>
          <a:xfrm>
            <a:off x="6245352" y="4480560"/>
            <a:ext cx="5394960" cy="566928"/>
          </a:xfrm>
          <a:prstGeom prst="rect">
            <a:avLst/>
          </a:prstGeom>
          <a:noFill/>
          <a:ln/>
        </p:spPr>
        <p:txBody>
          <a:bodyPr wrap="square" lIns="0" tIns="0" rIns="0" bIns="0" rtlCol="0" anchor="t"/>
          <a:lstStyle/>
          <a:p>
            <a:pPr indent="0" marL="0">
              <a:lnSpc>
                <a:spcPct val="110000"/>
              </a:lnSpc>
              <a:buNone/>
            </a:pPr>
            <a:r>
              <a:rPr lang="en-US" sz="1050" b="1" dirty="0">
                <a:solidFill>
                  <a:srgbClr val="E0A33C"/>
                </a:solidFill>
                <a:latin typeface="Calibri" pitchFamily="34" charset="0"/>
                <a:ea typeface="Calibri" pitchFamily="34" charset="-122"/>
                <a:cs typeface="Calibri" pitchFamily="34" charset="-120"/>
              </a:rPr>
              <a:t>The policy hikes the moraine, then slips on the ice at step 348. </a:t>
            </a:r>
            <a:pPr indent="0" marL="0">
              <a:lnSpc>
                <a:spcPct val="110000"/>
              </a:lnSpc>
              <a:buNone/>
            </a:pPr>
            <a:r>
              <a:rPr lang="en-US" sz="1050" dirty="0">
                <a:solidFill>
                  <a:srgbClr val="A9C8DF"/>
                </a:solidFill>
                <a:latin typeface="Calibri" pitchFamily="34" charset="0"/>
                <a:ea typeface="Calibri" pitchFamily="34" charset="-122"/>
                <a:cs typeface="Calibri" pitchFamily="34" charset="-120"/>
              </a:rPr>
              <a:t>A fall on the trail, not off an edge.</a:t>
            </a:r>
            <a:endParaRPr lang="en-US" sz="1050" dirty="0"/>
          </a:p>
        </p:txBody>
      </p:sp>
      <p:sp>
        <p:nvSpPr>
          <p:cNvPr id="8" name="Shape 4"/>
          <p:cNvSpPr/>
          <p:nvPr/>
        </p:nvSpPr>
        <p:spPr>
          <a:xfrm>
            <a:off x="548640" y="5138928"/>
            <a:ext cx="2606040" cy="1097280"/>
          </a:xfrm>
          <a:prstGeom prst="roundRect">
            <a:avLst>
              <a:gd name="adj" fmla="val 5000"/>
            </a:avLst>
          </a:prstGeom>
          <a:solidFill>
            <a:srgbClr val="0F2739"/>
          </a:solidFill>
          <a:ln w="9525">
            <a:solidFill>
              <a:srgbClr val="1C3B54"/>
            </a:solidFill>
            <a:prstDash val="solid"/>
          </a:ln>
        </p:spPr>
      </p:sp>
      <p:sp>
        <p:nvSpPr>
          <p:cNvPr id="9" name="Text 5"/>
          <p:cNvSpPr txBox="1"/>
          <p:nvPr/>
        </p:nvSpPr>
        <p:spPr>
          <a:xfrm>
            <a:off x="731520"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400 m square, 188 m relief</a:t>
            </a:r>
            <a:endParaRPr lang="en-US" sz="1150" dirty="0"/>
          </a:p>
        </p:txBody>
      </p:sp>
      <p:sp>
        <p:nvSpPr>
          <p:cNvPr id="10" name="Text 6"/>
          <p:cNvSpPr txBox="1"/>
          <p:nvPr/>
        </p:nvSpPr>
        <p:spPr>
          <a:xfrm>
            <a:off x="731520"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768 × 768 heightfield</a:t>
            </a:r>
            <a:endParaRPr lang="en-US" sz="950" dirty="0"/>
          </a:p>
        </p:txBody>
      </p:sp>
      <p:sp>
        <p:nvSpPr>
          <p:cNvPr id="11" name="Shape 7"/>
          <p:cNvSpPr/>
          <p:nvPr/>
        </p:nvSpPr>
        <p:spPr>
          <a:xfrm>
            <a:off x="3374136" y="5138928"/>
            <a:ext cx="2606040" cy="1097280"/>
          </a:xfrm>
          <a:prstGeom prst="roundRect">
            <a:avLst>
              <a:gd name="adj" fmla="val 5000"/>
            </a:avLst>
          </a:prstGeom>
          <a:solidFill>
            <a:srgbClr val="0F2739"/>
          </a:solidFill>
          <a:ln w="9525">
            <a:solidFill>
              <a:srgbClr val="1C3B54"/>
            </a:solidFill>
            <a:prstDash val="solid"/>
          </a:ln>
        </p:spPr>
      </p:sp>
      <p:sp>
        <p:nvSpPr>
          <p:cNvPr id="12" name="Text 8"/>
          <p:cNvSpPr txBox="1"/>
          <p:nvPr/>
        </p:nvSpPr>
        <p:spPr>
          <a:xfrm>
            <a:off x="3557016"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20.3° mean slope</a:t>
            </a:r>
            <a:endParaRPr lang="en-US" sz="1150" dirty="0"/>
          </a:p>
        </p:txBody>
      </p:sp>
      <p:sp>
        <p:nvSpPr>
          <p:cNvPr id="13" name="Text 9"/>
          <p:cNvSpPr txBox="1"/>
          <p:nvPr/>
        </p:nvSpPr>
        <p:spPr>
          <a:xfrm>
            <a:off x="3557016"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p90 60°, the graded moraine trail 13.4°</a:t>
            </a:r>
            <a:endParaRPr lang="en-US" sz="950" dirty="0"/>
          </a:p>
        </p:txBody>
      </p:sp>
      <p:sp>
        <p:nvSpPr>
          <p:cNvPr id="14" name="Shape 10"/>
          <p:cNvSpPr/>
          <p:nvPr/>
        </p:nvSpPr>
        <p:spPr>
          <a:xfrm>
            <a:off x="6199632" y="5138928"/>
            <a:ext cx="2606040" cy="1097280"/>
          </a:xfrm>
          <a:prstGeom prst="roundRect">
            <a:avLst>
              <a:gd name="adj" fmla="val 5000"/>
            </a:avLst>
          </a:prstGeom>
          <a:solidFill>
            <a:srgbClr val="0F2739"/>
          </a:solidFill>
          <a:ln w="9525">
            <a:solidFill>
              <a:srgbClr val="1C3B54"/>
            </a:solidFill>
            <a:prstDash val="solid"/>
          </a:ln>
        </p:spPr>
      </p:sp>
      <p:sp>
        <p:nvSpPr>
          <p:cNvPr id="15" name="Text 11"/>
          <p:cNvSpPr txBox="1"/>
          <p:nvPr/>
        </p:nvSpPr>
        <p:spPr>
          <a:xfrm>
            <a:off x="6382512"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26 ice seracs, 70 boulders</a:t>
            </a:r>
            <a:endParaRPr lang="en-US" sz="1150" dirty="0"/>
          </a:p>
        </p:txBody>
      </p:sp>
      <p:sp>
        <p:nvSpPr>
          <p:cNvPr id="16" name="Text 12"/>
          <p:cNvSpPr txBox="1"/>
          <p:nvPr/>
        </p:nvSpPr>
        <p:spPr>
          <a:xfrm>
            <a:off x="6382512"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embedded along the moraine</a:t>
            </a:r>
            <a:endParaRPr lang="en-US" sz="950" dirty="0"/>
          </a:p>
        </p:txBody>
      </p:sp>
      <p:sp>
        <p:nvSpPr>
          <p:cNvPr id="17" name="Shape 13"/>
          <p:cNvSpPr/>
          <p:nvPr/>
        </p:nvSpPr>
        <p:spPr>
          <a:xfrm>
            <a:off x="9025128" y="5138928"/>
            <a:ext cx="2606040" cy="1097280"/>
          </a:xfrm>
          <a:prstGeom prst="roundRect">
            <a:avLst>
              <a:gd name="adj" fmla="val 5000"/>
            </a:avLst>
          </a:prstGeom>
          <a:solidFill>
            <a:srgbClr val="0F2739"/>
          </a:solidFill>
          <a:ln w="9525">
            <a:solidFill>
              <a:srgbClr val="1C3B54"/>
            </a:solidFill>
            <a:prstDash val="solid"/>
          </a:ln>
        </p:spPr>
      </p:sp>
      <p:sp>
        <p:nvSpPr>
          <p:cNvPr id="18" name="Text 14"/>
          <p:cNvSpPr txBox="1"/>
          <p:nvPr/>
        </p:nvSpPr>
        <p:spPr>
          <a:xfrm>
            <a:off x="9208008" y="5248656"/>
            <a:ext cx="2240280" cy="274320"/>
          </a:xfrm>
          <a:prstGeom prst="rect">
            <a:avLst/>
          </a:prstGeom>
          <a:noFill/>
          <a:ln/>
        </p:spPr>
        <p:txBody>
          <a:bodyPr wrap="square" lIns="0" tIns="0" rIns="0" bIns="0" rtlCol="0" anchor="ctr"/>
          <a:lstStyle/>
          <a:p>
            <a:pPr indent="0" marL="0">
              <a:buNone/>
            </a:pPr>
            <a:r>
              <a:rPr lang="en-US" sz="1150" b="1" dirty="0">
                <a:solidFill>
                  <a:srgbClr val="F2F8FC"/>
                </a:solidFill>
                <a:latin typeface="Calibri" pitchFamily="34" charset="0"/>
                <a:ea typeface="Calibri" pitchFamily="34" charset="-122"/>
                <a:cs typeface="Calibri" pitchFamily="34" charset="-120"/>
              </a:rPr>
              <a:t>92% snow cover</a:t>
            </a:r>
            <a:endParaRPr lang="en-US" sz="1150" dirty="0"/>
          </a:p>
        </p:txBody>
      </p:sp>
      <p:sp>
        <p:nvSpPr>
          <p:cNvPr id="19" name="Text 15"/>
          <p:cNvSpPr txBox="1"/>
          <p:nvPr/>
        </p:nvSpPr>
        <p:spPr>
          <a:xfrm>
            <a:off x="9208008" y="5541264"/>
            <a:ext cx="2240280" cy="621792"/>
          </a:xfrm>
          <a:prstGeom prst="rect">
            <a:avLst/>
          </a:prstGeom>
          <a:noFill/>
          <a:ln/>
        </p:spPr>
        <p:txBody>
          <a:bodyPr wrap="square" lIns="0" tIns="0" rIns="0" bIns="0" rtlCol="0" anchor="t"/>
          <a:lstStyle/>
          <a:p>
            <a:pPr indent="0" marL="0">
              <a:lnSpc>
                <a:spcPct val="105000"/>
              </a:lnSpc>
              <a:buNone/>
            </a:pPr>
            <a:r>
              <a:rPr lang="en-US" sz="950" dirty="0">
                <a:solidFill>
                  <a:srgbClr val="A9C8DF"/>
                </a:solidFill>
                <a:latin typeface="Calibri" pitchFamily="34" charset="0"/>
                <a:ea typeface="Calibri" pitchFamily="34" charset="-122"/>
                <a:cs typeface="Calibri" pitchFamily="34" charset="-120"/>
              </a:rPr>
              <a:t>colour painted from the heightfield, bare rock on 100% of faces above 72°</a:t>
            </a:r>
            <a:endParaRPr lang="en-US" sz="950" dirty="0"/>
          </a:p>
        </p:txBody>
      </p:sp>
      <p:sp>
        <p:nvSpPr>
          <p:cNvPr id="20" name="Text 16"/>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1" name="Text 17"/>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FEASIBILITY</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462 Hz on a laptop CPU, with no GPU</a:t>
            </a:r>
            <a:endParaRPr lang="en-US" sz="3100" dirty="0"/>
          </a:p>
        </p:txBody>
      </p:sp>
      <p:sp>
        <p:nvSpPr>
          <p:cNvPr id="4" name="Shape 2"/>
          <p:cNvSpPr/>
          <p:nvPr/>
        </p:nvSpPr>
        <p:spPr>
          <a:xfrm>
            <a:off x="548640" y="1463040"/>
            <a:ext cx="3566160" cy="1280160"/>
          </a:xfrm>
          <a:prstGeom prst="roundRect">
            <a:avLst>
              <a:gd name="adj" fmla="val 4286"/>
            </a:avLst>
          </a:prstGeom>
          <a:solidFill>
            <a:srgbClr val="16374E"/>
          </a:solidFill>
          <a:ln w="9525">
            <a:solidFill>
              <a:srgbClr val="1C3B54"/>
            </a:solidFill>
            <a:prstDash val="solid"/>
          </a:ln>
        </p:spPr>
      </p:sp>
      <p:sp>
        <p:nvSpPr>
          <p:cNvPr id="5" name="Text 3"/>
          <p:cNvSpPr txBox="1"/>
          <p:nvPr/>
        </p:nvSpPr>
        <p:spPr>
          <a:xfrm>
            <a:off x="822960" y="1609344"/>
            <a:ext cx="3017520" cy="548640"/>
          </a:xfrm>
          <a:prstGeom prst="rect">
            <a:avLst/>
          </a:prstGeom>
          <a:noFill/>
          <a:ln/>
        </p:spPr>
        <p:txBody>
          <a:bodyPr wrap="square" lIns="0" tIns="0" rIns="0" bIns="0" rtlCol="0" anchor="ctr"/>
          <a:lstStyle/>
          <a:p>
            <a:pPr indent="0" marL="0">
              <a:buNone/>
            </a:pPr>
            <a:r>
              <a:rPr lang="en-US" sz="3200" b="1" dirty="0">
                <a:solidFill>
                  <a:srgbClr val="35A0F0"/>
                </a:solidFill>
                <a:latin typeface="Cambria" pitchFamily="34" charset="0"/>
                <a:ea typeface="Cambria" pitchFamily="34" charset="-122"/>
                <a:cs typeface="Cambria" pitchFamily="34" charset="-120"/>
              </a:rPr>
              <a:t>462 Hz</a:t>
            </a:r>
            <a:endParaRPr lang="en-US" sz="3200" dirty="0"/>
          </a:p>
        </p:txBody>
      </p:sp>
      <p:sp>
        <p:nvSpPr>
          <p:cNvPr id="6" name="Text 4"/>
          <p:cNvSpPr txBox="1"/>
          <p:nvPr/>
        </p:nvSpPr>
        <p:spPr>
          <a:xfrm>
            <a:off x="822960" y="2194560"/>
            <a:ext cx="3017520" cy="292608"/>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control rate, measured</a:t>
            </a:r>
            <a:endParaRPr lang="en-US" sz="1150" dirty="0"/>
          </a:p>
        </p:txBody>
      </p:sp>
      <p:sp>
        <p:nvSpPr>
          <p:cNvPr id="7" name="Shape 5"/>
          <p:cNvSpPr/>
          <p:nvPr/>
        </p:nvSpPr>
        <p:spPr>
          <a:xfrm>
            <a:off x="4315968" y="1463040"/>
            <a:ext cx="3566160" cy="1280160"/>
          </a:xfrm>
          <a:prstGeom prst="roundRect">
            <a:avLst>
              <a:gd name="adj" fmla="val 4286"/>
            </a:avLst>
          </a:prstGeom>
          <a:solidFill>
            <a:srgbClr val="16374E"/>
          </a:solidFill>
          <a:ln w="9525">
            <a:solidFill>
              <a:srgbClr val="1C3B54"/>
            </a:solidFill>
            <a:prstDash val="solid"/>
          </a:ln>
        </p:spPr>
      </p:sp>
      <p:sp>
        <p:nvSpPr>
          <p:cNvPr id="8" name="Text 6"/>
          <p:cNvSpPr txBox="1"/>
          <p:nvPr/>
        </p:nvSpPr>
        <p:spPr>
          <a:xfrm>
            <a:off x="4590288" y="1609344"/>
            <a:ext cx="3017520" cy="548640"/>
          </a:xfrm>
          <a:prstGeom prst="rect">
            <a:avLst/>
          </a:prstGeom>
          <a:noFill/>
          <a:ln/>
        </p:spPr>
        <p:txBody>
          <a:bodyPr wrap="square" lIns="0" tIns="0" rIns="0" bIns="0" rtlCol="0" anchor="ctr"/>
          <a:lstStyle/>
          <a:p>
            <a:pPr indent="0" marL="0">
              <a:buNone/>
            </a:pPr>
            <a:r>
              <a:rPr lang="en-US" sz="3200" b="1" dirty="0">
                <a:solidFill>
                  <a:srgbClr val="35A0F0"/>
                </a:solidFill>
                <a:latin typeface="Cambria" pitchFamily="34" charset="0"/>
                <a:ea typeface="Cambria" pitchFamily="34" charset="-122"/>
                <a:cs typeface="Cambria" pitchFamily="34" charset="-120"/>
              </a:rPr>
              <a:t>2.17 ms</a:t>
            </a:r>
            <a:endParaRPr lang="en-US" sz="3200" dirty="0"/>
          </a:p>
        </p:txBody>
      </p:sp>
      <p:sp>
        <p:nvSpPr>
          <p:cNvPr id="9" name="Text 7"/>
          <p:cNvSpPr txBox="1"/>
          <p:nvPr/>
        </p:nvSpPr>
        <p:spPr>
          <a:xfrm>
            <a:off x="4590288" y="2194560"/>
            <a:ext cx="3017520" cy="292608"/>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per control step</a:t>
            </a:r>
            <a:endParaRPr lang="en-US" sz="1150" dirty="0"/>
          </a:p>
        </p:txBody>
      </p:sp>
      <p:sp>
        <p:nvSpPr>
          <p:cNvPr id="10" name="Shape 8"/>
          <p:cNvSpPr/>
          <p:nvPr/>
        </p:nvSpPr>
        <p:spPr>
          <a:xfrm>
            <a:off x="8083296" y="1463040"/>
            <a:ext cx="3566160" cy="1280160"/>
          </a:xfrm>
          <a:prstGeom prst="roundRect">
            <a:avLst>
              <a:gd name="adj" fmla="val 4286"/>
            </a:avLst>
          </a:prstGeom>
          <a:solidFill>
            <a:srgbClr val="0F2739"/>
          </a:solidFill>
          <a:ln w="9525">
            <a:solidFill>
              <a:srgbClr val="1C3B54"/>
            </a:solidFill>
            <a:prstDash val="solid"/>
          </a:ln>
        </p:spPr>
      </p:sp>
      <p:sp>
        <p:nvSpPr>
          <p:cNvPr id="11" name="Text 9"/>
          <p:cNvSpPr txBox="1"/>
          <p:nvPr/>
        </p:nvSpPr>
        <p:spPr>
          <a:xfrm>
            <a:off x="8357616" y="1609344"/>
            <a:ext cx="3017520" cy="548640"/>
          </a:xfrm>
          <a:prstGeom prst="rect">
            <a:avLst/>
          </a:prstGeom>
          <a:noFill/>
          <a:ln/>
        </p:spPr>
        <p:txBody>
          <a:bodyPr wrap="square" lIns="0" tIns="0" rIns="0" bIns="0" rtlCol="0" anchor="ctr"/>
          <a:lstStyle/>
          <a:p>
            <a:pPr indent="0" marL="0">
              <a:buNone/>
            </a:pPr>
            <a:r>
              <a:rPr lang="en-US" sz="3200" b="1" dirty="0">
                <a:solidFill>
                  <a:srgbClr val="A9C8DF"/>
                </a:solidFill>
                <a:latin typeface="Cambria" pitchFamily="34" charset="0"/>
                <a:ea typeface="Cambria" pitchFamily="34" charset="-122"/>
                <a:cs typeface="Cambria" pitchFamily="34" charset="-120"/>
              </a:rPr>
              <a:t>20 ms</a:t>
            </a:r>
            <a:endParaRPr lang="en-US" sz="3200" dirty="0"/>
          </a:p>
        </p:txBody>
      </p:sp>
      <p:sp>
        <p:nvSpPr>
          <p:cNvPr id="12" name="Text 10"/>
          <p:cNvSpPr txBox="1"/>
          <p:nvPr/>
        </p:nvSpPr>
        <p:spPr>
          <a:xfrm>
            <a:off x="8357616" y="2194560"/>
            <a:ext cx="3017520" cy="292608"/>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the budget per step</a:t>
            </a:r>
            <a:endParaRPr lang="en-US" sz="1150" dirty="0"/>
          </a:p>
        </p:txBody>
      </p:sp>
      <p:sp>
        <p:nvSpPr>
          <p:cNvPr id="13" name="Shape 11"/>
          <p:cNvSpPr/>
          <p:nvPr/>
        </p:nvSpPr>
        <p:spPr>
          <a:xfrm>
            <a:off x="548640" y="2962656"/>
            <a:ext cx="11094415" cy="1481328"/>
          </a:xfrm>
          <a:prstGeom prst="roundRect">
            <a:avLst>
              <a:gd name="adj" fmla="val 3704"/>
            </a:avLst>
          </a:prstGeom>
          <a:solidFill>
            <a:srgbClr val="0F2739"/>
          </a:solidFill>
          <a:ln w="9525">
            <a:solidFill>
              <a:srgbClr val="1C3B54"/>
            </a:solidFill>
            <a:prstDash val="solid"/>
          </a:ln>
        </p:spPr>
      </p:sp>
      <p:sp>
        <p:nvSpPr>
          <p:cNvPr id="14" name="Text 12"/>
          <p:cNvSpPr txBox="1"/>
          <p:nvPr/>
        </p:nvSpPr>
        <p:spPr>
          <a:xfrm>
            <a:off x="841248" y="3090672"/>
            <a:ext cx="5486400" cy="274320"/>
          </a:xfrm>
          <a:prstGeom prst="rect">
            <a:avLst/>
          </a:prstGeom>
          <a:noFill/>
          <a:ln/>
        </p:spPr>
        <p:txBody>
          <a:bodyPr wrap="square" lIns="0" tIns="0" rIns="0" bIns="0" rtlCol="0" anchor="ctr"/>
          <a:lstStyle/>
          <a:p>
            <a:pPr indent="0" marL="0">
              <a:buNone/>
            </a:pPr>
            <a:r>
              <a:rPr lang="en-US" sz="1100" b="1" spc="100" kern="0" dirty="0">
                <a:solidFill>
                  <a:srgbClr val="6E8CA3"/>
                </a:solidFill>
                <a:latin typeface="Calibri" pitchFamily="34" charset="0"/>
                <a:ea typeface="Calibri" pitchFamily="34" charset="-122"/>
                <a:cs typeface="Calibri" pitchFamily="34" charset="-120"/>
              </a:rPr>
              <a:t>One control step against its budget</a:t>
            </a:r>
            <a:endParaRPr lang="en-US" sz="1100" dirty="0"/>
          </a:p>
        </p:txBody>
      </p:sp>
      <p:sp>
        <p:nvSpPr>
          <p:cNvPr id="15" name="Text 13"/>
          <p:cNvSpPr txBox="1"/>
          <p:nvPr/>
        </p:nvSpPr>
        <p:spPr>
          <a:xfrm>
            <a:off x="841248" y="3447288"/>
            <a:ext cx="1554480" cy="310896"/>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measured</a:t>
            </a:r>
            <a:endParaRPr lang="en-US" sz="1150" dirty="0"/>
          </a:p>
        </p:txBody>
      </p:sp>
      <p:sp>
        <p:nvSpPr>
          <p:cNvPr id="16" name="Shape 14"/>
          <p:cNvSpPr/>
          <p:nvPr/>
        </p:nvSpPr>
        <p:spPr>
          <a:xfrm>
            <a:off x="2468880" y="3493008"/>
            <a:ext cx="763935" cy="237744"/>
          </a:xfrm>
          <a:prstGeom prst="roundRect">
            <a:avLst>
              <a:gd name="adj" fmla="val 19231"/>
            </a:avLst>
          </a:prstGeom>
          <a:solidFill>
            <a:srgbClr val="35A0F0"/>
          </a:solidFill>
          <a:ln/>
        </p:spPr>
      </p:sp>
      <p:sp>
        <p:nvSpPr>
          <p:cNvPr id="17" name="Text 15"/>
          <p:cNvSpPr txBox="1"/>
          <p:nvPr/>
        </p:nvSpPr>
        <p:spPr>
          <a:xfrm>
            <a:off x="3379119" y="3447288"/>
            <a:ext cx="1371600" cy="310896"/>
          </a:xfrm>
          <a:prstGeom prst="rect">
            <a:avLst/>
          </a:prstGeom>
          <a:noFill/>
          <a:ln/>
        </p:spPr>
        <p:txBody>
          <a:bodyPr wrap="square" lIns="0" tIns="0" rIns="0" bIns="0" rtlCol="0" anchor="ctr"/>
          <a:lstStyle/>
          <a:p>
            <a:pPr indent="0" marL="0">
              <a:buNone/>
            </a:pPr>
            <a:r>
              <a:rPr lang="en-US" sz="1100" b="1" dirty="0">
                <a:solidFill>
                  <a:srgbClr val="35A0F0"/>
                </a:solidFill>
                <a:latin typeface="Calibri" pitchFamily="34" charset="0"/>
                <a:ea typeface="Calibri" pitchFamily="34" charset="-122"/>
                <a:cs typeface="Calibri" pitchFamily="34" charset="-120"/>
              </a:rPr>
              <a:t>2.17 ms</a:t>
            </a:r>
            <a:endParaRPr lang="en-US" sz="1100" dirty="0"/>
          </a:p>
        </p:txBody>
      </p:sp>
      <p:sp>
        <p:nvSpPr>
          <p:cNvPr id="18" name="Text 16"/>
          <p:cNvSpPr txBox="1"/>
          <p:nvPr/>
        </p:nvSpPr>
        <p:spPr>
          <a:xfrm>
            <a:off x="841248" y="3904488"/>
            <a:ext cx="1554480" cy="310896"/>
          </a:xfrm>
          <a:prstGeom prst="rect">
            <a:avLst/>
          </a:prstGeom>
          <a:noFill/>
          <a:ln/>
        </p:spPr>
        <p:txBody>
          <a:bodyPr wrap="square" lIns="0" tIns="0" rIns="0" bIns="0" rtlCol="0" anchor="ctr"/>
          <a:lstStyle/>
          <a:p>
            <a:pPr indent="0" marL="0">
              <a:buNone/>
            </a:pPr>
            <a:r>
              <a:rPr lang="en-US" sz="1150" dirty="0">
                <a:solidFill>
                  <a:srgbClr val="A9C8DF"/>
                </a:solidFill>
                <a:latin typeface="Calibri" pitchFamily="34" charset="0"/>
                <a:ea typeface="Calibri" pitchFamily="34" charset="-122"/>
                <a:cs typeface="Calibri" pitchFamily="34" charset="-120"/>
              </a:rPr>
              <a:t>budget</a:t>
            </a:r>
            <a:endParaRPr lang="en-US" sz="1150" dirty="0"/>
          </a:p>
        </p:txBody>
      </p:sp>
      <p:sp>
        <p:nvSpPr>
          <p:cNvPr id="19" name="Shape 17"/>
          <p:cNvSpPr/>
          <p:nvPr/>
        </p:nvSpPr>
        <p:spPr>
          <a:xfrm>
            <a:off x="2468880" y="3950208"/>
            <a:ext cx="7040880" cy="237744"/>
          </a:xfrm>
          <a:prstGeom prst="roundRect">
            <a:avLst>
              <a:gd name="adj" fmla="val 19231"/>
            </a:avLst>
          </a:prstGeom>
          <a:solidFill>
            <a:srgbClr val="24485F"/>
          </a:solidFill>
          <a:ln/>
        </p:spPr>
      </p:sp>
      <p:sp>
        <p:nvSpPr>
          <p:cNvPr id="20" name="Text 18"/>
          <p:cNvSpPr txBox="1"/>
          <p:nvPr/>
        </p:nvSpPr>
        <p:spPr>
          <a:xfrm>
            <a:off x="9656064" y="3904488"/>
            <a:ext cx="1371600" cy="310896"/>
          </a:xfrm>
          <a:prstGeom prst="rect">
            <a:avLst/>
          </a:prstGeom>
          <a:noFill/>
          <a:ln/>
        </p:spPr>
        <p:txBody>
          <a:bodyPr wrap="square" lIns="0" tIns="0" rIns="0" bIns="0" rtlCol="0" anchor="ctr"/>
          <a:lstStyle/>
          <a:p>
            <a:pPr indent="0" marL="0">
              <a:buNone/>
            </a:pPr>
            <a:r>
              <a:rPr lang="en-US" sz="1100" b="1" dirty="0">
                <a:solidFill>
                  <a:srgbClr val="A9C8DF"/>
                </a:solidFill>
                <a:latin typeface="Calibri" pitchFamily="34" charset="0"/>
                <a:ea typeface="Calibri" pitchFamily="34" charset="-122"/>
                <a:cs typeface="Calibri" pitchFamily="34" charset="-120"/>
              </a:rPr>
              <a:t>20 ms</a:t>
            </a:r>
            <a:endParaRPr lang="en-US" sz="1100" dirty="0"/>
          </a:p>
        </p:txBody>
      </p:sp>
      <p:sp>
        <p:nvSpPr>
          <p:cNvPr id="21" name="Shape 19"/>
          <p:cNvSpPr/>
          <p:nvPr/>
        </p:nvSpPr>
        <p:spPr>
          <a:xfrm>
            <a:off x="548640" y="4700016"/>
            <a:ext cx="5468112" cy="1481328"/>
          </a:xfrm>
          <a:prstGeom prst="roundRect">
            <a:avLst>
              <a:gd name="adj" fmla="val 3704"/>
            </a:avLst>
          </a:prstGeom>
          <a:solidFill>
            <a:srgbClr val="0F2739"/>
          </a:solidFill>
          <a:ln w="9525">
            <a:solidFill>
              <a:srgbClr val="1C3B54"/>
            </a:solidFill>
            <a:prstDash val="solid"/>
          </a:ln>
        </p:spPr>
      </p:sp>
      <p:sp>
        <p:nvSpPr>
          <p:cNvPr id="22" name="Text 20"/>
          <p:cNvSpPr txBox="1"/>
          <p:nvPr/>
        </p:nvSpPr>
        <p:spPr>
          <a:xfrm>
            <a:off x="822960" y="4846320"/>
            <a:ext cx="4919472" cy="292608"/>
          </a:xfrm>
          <a:prstGeom prst="rect">
            <a:avLst/>
          </a:prstGeom>
          <a:noFill/>
          <a:ln/>
        </p:spPr>
        <p:txBody>
          <a:bodyPr wrap="square" lIns="0" tIns="0" rIns="0" bIns="0" rtlCol="0" anchor="ctr"/>
          <a:lstStyle/>
          <a:p>
            <a:pPr indent="0" marL="0">
              <a:buNone/>
            </a:pPr>
            <a:r>
              <a:rPr lang="en-US" sz="1250" b="1" dirty="0">
                <a:solidFill>
                  <a:srgbClr val="35A0F0"/>
                </a:solidFill>
                <a:latin typeface="Calibri" pitchFamily="34" charset="0"/>
                <a:ea typeface="Calibri" pitchFamily="34" charset="-122"/>
                <a:cs typeface="Calibri" pitchFamily="34" charset="-120"/>
              </a:rPr>
              <a:t>Native MuJoCo at deployment, not MJX</a:t>
            </a:r>
            <a:endParaRPr lang="en-US" sz="1250" dirty="0"/>
          </a:p>
        </p:txBody>
      </p:sp>
      <p:sp>
        <p:nvSpPr>
          <p:cNvPr id="23" name="Text 21"/>
          <p:cNvSpPr txBox="1"/>
          <p:nvPr/>
        </p:nvSpPr>
        <p:spPr>
          <a:xfrm>
            <a:off x="822960" y="5175504"/>
            <a:ext cx="4919472" cy="859536"/>
          </a:xfrm>
          <a:prstGeom prst="rect">
            <a:avLst/>
          </a:prstGeom>
          <a:noFill/>
          <a:ln/>
        </p:spPr>
        <p:txBody>
          <a:bodyPr wrap="square" lIns="0" tIns="0" rIns="0" bIns="0" rtlCol="0" anchor="t"/>
          <a:lstStyle/>
          <a:p>
            <a:pPr indent="0" marL="0">
              <a:lnSpc>
                <a:spcPct val="114000"/>
              </a:lnSpc>
              <a:buNone/>
            </a:pPr>
            <a:r>
              <a:rPr lang="en-US" sz="1150" dirty="0">
                <a:solidFill>
                  <a:srgbClr val="A9C8DF"/>
                </a:solidFill>
                <a:latin typeface="Calibri" pitchFamily="34" charset="0"/>
                <a:ea typeface="Calibri" pitchFamily="34" charset="-122"/>
                <a:cs typeface="Calibri" pitchFamily="34" charset="-120"/>
              </a:rPr>
              <a:t>MJX trains thousands of robots at once on a GPU. Deployment is a single robot on native MuJoCo, which is the shape of what a Jetson Thor would run.</a:t>
            </a:r>
            <a:endParaRPr lang="en-US" sz="1150" dirty="0"/>
          </a:p>
        </p:txBody>
      </p:sp>
      <p:sp>
        <p:nvSpPr>
          <p:cNvPr id="24" name="Shape 22"/>
          <p:cNvSpPr/>
          <p:nvPr/>
        </p:nvSpPr>
        <p:spPr>
          <a:xfrm>
            <a:off x="6172200" y="4700016"/>
            <a:ext cx="5468112" cy="1481328"/>
          </a:xfrm>
          <a:prstGeom prst="roundRect">
            <a:avLst>
              <a:gd name="adj" fmla="val 3704"/>
            </a:avLst>
          </a:prstGeom>
          <a:solidFill>
            <a:srgbClr val="0F2739"/>
          </a:solidFill>
          <a:ln w="9525">
            <a:solidFill>
              <a:srgbClr val="1C3B54"/>
            </a:solidFill>
            <a:prstDash val="solid"/>
          </a:ln>
        </p:spPr>
      </p:sp>
      <p:sp>
        <p:nvSpPr>
          <p:cNvPr id="25" name="Text 23"/>
          <p:cNvSpPr txBox="1"/>
          <p:nvPr/>
        </p:nvSpPr>
        <p:spPr>
          <a:xfrm>
            <a:off x="6446520" y="4846320"/>
            <a:ext cx="4919472" cy="292608"/>
          </a:xfrm>
          <a:prstGeom prst="rect">
            <a:avLst/>
          </a:prstGeom>
          <a:noFill/>
          <a:ln/>
        </p:spPr>
        <p:txBody>
          <a:bodyPr wrap="square" lIns="0" tIns="0" rIns="0" bIns="0" rtlCol="0" anchor="ctr"/>
          <a:lstStyle/>
          <a:p>
            <a:pPr indent="0" marL="0">
              <a:buNone/>
            </a:pPr>
            <a:r>
              <a:rPr lang="en-US" sz="1250" b="1" dirty="0">
                <a:solidFill>
                  <a:srgbClr val="35A0F0"/>
                </a:solidFill>
                <a:latin typeface="Calibri" pitchFamily="34" charset="0"/>
                <a:ea typeface="Calibri" pitchFamily="34" charset="-122"/>
                <a:cs typeface="Calibri" pitchFamily="34" charset="-120"/>
              </a:rPr>
              <a:t>One code path</a:t>
            </a:r>
            <a:endParaRPr lang="en-US" sz="1250" dirty="0"/>
          </a:p>
        </p:txBody>
      </p:sp>
      <p:sp>
        <p:nvSpPr>
          <p:cNvPr id="26" name="Text 24"/>
          <p:cNvSpPr txBox="1"/>
          <p:nvPr/>
        </p:nvSpPr>
        <p:spPr>
          <a:xfrm>
            <a:off x="6446520" y="5175504"/>
            <a:ext cx="4919472" cy="859536"/>
          </a:xfrm>
          <a:prstGeom prst="rect">
            <a:avLst/>
          </a:prstGeom>
          <a:noFill/>
          <a:ln/>
        </p:spPr>
        <p:txBody>
          <a:bodyPr wrap="square" lIns="0" tIns="0" rIns="0" bIns="0" rtlCol="0" anchor="t"/>
          <a:lstStyle/>
          <a:p>
            <a:pPr indent="0" marL="0">
              <a:lnSpc>
                <a:spcPct val="114000"/>
              </a:lnSpc>
              <a:buNone/>
            </a:pPr>
            <a:r>
              <a:rPr lang="en-US" sz="1150" dirty="0">
                <a:solidFill>
                  <a:srgbClr val="A9C8DF"/>
                </a:solidFill>
                <a:latin typeface="Calibri" pitchFamily="34" charset="0"/>
                <a:ea typeface="Calibri" pitchFamily="34" charset="-122"/>
                <a:cs typeface="Calibri" pitchFamily="34" charset="-120"/>
              </a:rPr>
              <a:t>The same policy and the same loop drive the live demo and would drive the robot. Nothing is re-implemented between them.</a:t>
            </a:r>
            <a:endParaRPr lang="en-US" sz="1150" dirty="0"/>
          </a:p>
        </p:txBody>
      </p:sp>
      <p:sp>
        <p:nvSpPr>
          <p:cNvPr id="27" name="Text 25"/>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8" name="Text 26"/>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523"/>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WHAT DOES NOT WORK</a:t>
            </a:r>
            <a:endParaRPr lang="en-US" sz="105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Fall recovery is unfinished</a:t>
            </a:r>
            <a:endParaRPr lang="en-US" sz="3100" dirty="0"/>
          </a:p>
        </p:txBody>
      </p:sp>
      <p:sp>
        <p:nvSpPr>
          <p:cNvPr id="4" name="Text 2"/>
          <p:cNvSpPr txBox="1"/>
          <p:nvPr/>
        </p:nvSpPr>
        <p:spPr>
          <a:xfrm>
            <a:off x="548640" y="1207008"/>
            <a:ext cx="6858000" cy="310896"/>
          </a:xfrm>
          <a:prstGeom prst="rect">
            <a:avLst/>
          </a:prstGeom>
          <a:noFill/>
          <a:ln/>
        </p:spPr>
        <p:txBody>
          <a:bodyPr wrap="square" lIns="0" tIns="0" rIns="0" bIns="0" rtlCol="0" anchor="ctr"/>
          <a:lstStyle/>
          <a:p>
            <a:pPr indent="0" marL="0">
              <a:buNone/>
            </a:pPr>
            <a:r>
              <a:rPr lang="en-US" sz="1300" dirty="0">
                <a:solidFill>
                  <a:srgbClr val="A9C8DF"/>
                </a:solidFill>
                <a:latin typeface="Calibri" pitchFamily="34" charset="0"/>
                <a:ea typeface="Calibri" pitchFamily="34" charset="-122"/>
                <a:cs typeface="Calibri" pitchFamily="34" charset="-120"/>
              </a:rPr>
              <a:t>Seven training runs. Each failed for a genuinely different, diagnosed reason. v6 got the furthest.</a:t>
            </a:r>
            <a:endParaRPr lang="en-US" sz="1300" dirty="0"/>
          </a:p>
        </p:txBody>
      </p:sp>
      <p:sp>
        <p:nvSpPr>
          <p:cNvPr id="5" name="Shape 3"/>
          <p:cNvSpPr/>
          <p:nvPr/>
        </p:nvSpPr>
        <p:spPr>
          <a:xfrm>
            <a:off x="548640" y="1764792"/>
            <a:ext cx="256032" cy="256032"/>
          </a:xfrm>
          <a:prstGeom prst="ellipse">
            <a:avLst/>
          </a:prstGeom>
          <a:solidFill>
            <a:srgbClr val="E0A33C"/>
          </a:solidFill>
          <a:ln/>
        </p:spPr>
      </p:sp>
      <p:sp>
        <p:nvSpPr>
          <p:cNvPr id="6" name="Text 4"/>
          <p:cNvSpPr txBox="1"/>
          <p:nvPr/>
        </p:nvSpPr>
        <p:spPr>
          <a:xfrm>
            <a:off x="548640" y="1764792"/>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932688" y="1719072"/>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Inverted up vector sign.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the reward was paying the robot for ending upside down</a:t>
            </a:r>
            <a:endParaRPr lang="en-US" sz="1150" dirty="0"/>
          </a:p>
        </p:txBody>
      </p:sp>
      <p:sp>
        <p:nvSpPr>
          <p:cNvPr id="8" name="Shape 6"/>
          <p:cNvSpPr/>
          <p:nvPr/>
        </p:nvSpPr>
        <p:spPr>
          <a:xfrm>
            <a:off x="548640" y="2203704"/>
            <a:ext cx="256032" cy="256032"/>
          </a:xfrm>
          <a:prstGeom prst="ellipse">
            <a:avLst/>
          </a:prstGeom>
          <a:solidFill>
            <a:srgbClr val="E0A33C"/>
          </a:solidFill>
          <a:ln/>
        </p:spPr>
      </p:sp>
      <p:sp>
        <p:nvSpPr>
          <p:cNvPr id="9" name="Text 7"/>
          <p:cNvSpPr txBox="1"/>
          <p:nvPr/>
        </p:nvSpPr>
        <p:spPr>
          <a:xfrm>
            <a:off x="548640" y="2203704"/>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2</a:t>
            </a:r>
            <a:endParaRPr lang="en-US" sz="1000" dirty="0"/>
          </a:p>
        </p:txBody>
      </p:sp>
      <p:sp>
        <p:nvSpPr>
          <p:cNvPr id="10" name="Text 8"/>
          <p:cNvSpPr txBox="1"/>
          <p:nvPr/>
        </p:nvSpPr>
        <p:spPr>
          <a:xfrm>
            <a:off x="932688" y="2157984"/>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Unbounded reward terms.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raw sums of actuator force and squared joint acceleration, going NaN</a:t>
            </a:r>
            <a:endParaRPr lang="en-US" sz="1150" dirty="0"/>
          </a:p>
        </p:txBody>
      </p:sp>
      <p:sp>
        <p:nvSpPr>
          <p:cNvPr id="11" name="Shape 9"/>
          <p:cNvSpPr/>
          <p:nvPr/>
        </p:nvSpPr>
        <p:spPr>
          <a:xfrm>
            <a:off x="548640" y="2642616"/>
            <a:ext cx="256032" cy="256032"/>
          </a:xfrm>
          <a:prstGeom prst="ellipse">
            <a:avLst/>
          </a:prstGeom>
          <a:solidFill>
            <a:srgbClr val="E0A33C"/>
          </a:solidFill>
          <a:ln/>
        </p:spPr>
      </p:sp>
      <p:sp>
        <p:nvSpPr>
          <p:cNvPr id="12" name="Text 10"/>
          <p:cNvSpPr txBox="1"/>
          <p:nvPr/>
        </p:nvSpPr>
        <p:spPr>
          <a:xfrm>
            <a:off x="548640" y="2642616"/>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3</a:t>
            </a:r>
            <a:endParaRPr lang="en-US" sz="1000" dirty="0"/>
          </a:p>
        </p:txBody>
      </p:sp>
      <p:sp>
        <p:nvSpPr>
          <p:cNvPr id="13" name="Text 11"/>
          <p:cNvSpPr txBox="1"/>
          <p:nvPr/>
        </p:nvSpPr>
        <p:spPr>
          <a:xfrm>
            <a:off x="932688" y="2596896"/>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Degenerate reset poses.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uniform joint sampling folded the arms through the torso</a:t>
            </a:r>
            <a:endParaRPr lang="en-US" sz="1150" dirty="0"/>
          </a:p>
        </p:txBody>
      </p:sp>
      <p:sp>
        <p:nvSpPr>
          <p:cNvPr id="14" name="Shape 12"/>
          <p:cNvSpPr/>
          <p:nvPr/>
        </p:nvSpPr>
        <p:spPr>
          <a:xfrm>
            <a:off x="548640" y="3081528"/>
            <a:ext cx="256032" cy="256032"/>
          </a:xfrm>
          <a:prstGeom prst="ellipse">
            <a:avLst/>
          </a:prstGeom>
          <a:solidFill>
            <a:srgbClr val="E0A33C"/>
          </a:solidFill>
          <a:ln/>
        </p:spPr>
      </p:sp>
      <p:sp>
        <p:nvSpPr>
          <p:cNvPr id="15" name="Text 13"/>
          <p:cNvSpPr txBox="1"/>
          <p:nvPr/>
        </p:nvSpPr>
        <p:spPr>
          <a:xfrm>
            <a:off x="548640" y="3081528"/>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4</a:t>
            </a:r>
            <a:endParaRPr lang="en-US" sz="1000" dirty="0"/>
          </a:p>
        </p:txBody>
      </p:sp>
      <p:sp>
        <p:nvSpPr>
          <p:cNvPr id="16" name="Text 14"/>
          <p:cNvSpPr txBox="1"/>
          <p:nvPr/>
        </p:nvSpPr>
        <p:spPr>
          <a:xfrm>
            <a:off x="932688" y="3035808"/>
            <a:ext cx="6172200" cy="777240"/>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A NaN leak.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the env terminates on NaN in qpos and qvel, but the observation is built before that check, and jnp.clip(nan) returns nan while clip(inf) returns the bound. One diverging env out of 8192 poisoned the gradient permanently</a:t>
            </a:r>
            <a:endParaRPr lang="en-US" sz="1150" dirty="0"/>
          </a:p>
        </p:txBody>
      </p:sp>
      <p:sp>
        <p:nvSpPr>
          <p:cNvPr id="17" name="Shape 15"/>
          <p:cNvSpPr/>
          <p:nvPr/>
        </p:nvSpPr>
        <p:spPr>
          <a:xfrm>
            <a:off x="548640" y="3904488"/>
            <a:ext cx="256032" cy="256032"/>
          </a:xfrm>
          <a:prstGeom prst="ellipse">
            <a:avLst/>
          </a:prstGeom>
          <a:solidFill>
            <a:srgbClr val="E0A33C"/>
          </a:solidFill>
          <a:ln/>
        </p:spPr>
      </p:sp>
      <p:sp>
        <p:nvSpPr>
          <p:cNvPr id="18" name="Text 16"/>
          <p:cNvSpPr txBox="1"/>
          <p:nvPr/>
        </p:nvSpPr>
        <p:spPr>
          <a:xfrm>
            <a:off x="548640" y="3904488"/>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5</a:t>
            </a:r>
            <a:endParaRPr lang="en-US" sz="1000" dirty="0"/>
          </a:p>
        </p:txBody>
      </p:sp>
      <p:sp>
        <p:nvSpPr>
          <p:cNvPr id="19" name="Text 17"/>
          <p:cNvSpPr txBox="1"/>
          <p:nvPr/>
        </p:nvSpPr>
        <p:spPr>
          <a:xfrm>
            <a:off x="932688" y="3858768"/>
            <a:ext cx="6172200" cy="56692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A saturated reward.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the total was clipped to 1.0 while the orientation term alone maxed at 1.0, so standing up earned nothing. It learned to sit up and stop</a:t>
            </a:r>
            <a:endParaRPr lang="en-US" sz="1150" dirty="0"/>
          </a:p>
        </p:txBody>
      </p:sp>
      <p:sp>
        <p:nvSpPr>
          <p:cNvPr id="20" name="Shape 18"/>
          <p:cNvSpPr/>
          <p:nvPr/>
        </p:nvSpPr>
        <p:spPr>
          <a:xfrm>
            <a:off x="548640" y="4526280"/>
            <a:ext cx="256032" cy="256032"/>
          </a:xfrm>
          <a:prstGeom prst="ellipse">
            <a:avLst/>
          </a:prstGeom>
          <a:solidFill>
            <a:srgbClr val="35A0F0"/>
          </a:solidFill>
          <a:ln/>
        </p:spPr>
      </p:sp>
      <p:sp>
        <p:nvSpPr>
          <p:cNvPr id="21" name="Text 19"/>
          <p:cNvSpPr txBox="1"/>
          <p:nvPr/>
        </p:nvSpPr>
        <p:spPr>
          <a:xfrm>
            <a:off x="548640" y="4526280"/>
            <a:ext cx="256032" cy="256032"/>
          </a:xfrm>
          <a:prstGeom prst="rect">
            <a:avLst/>
          </a:prstGeom>
          <a:noFill/>
          <a:ln/>
        </p:spPr>
        <p:txBody>
          <a:bodyPr wrap="square" lIns="0" tIns="0" rIns="0" bIns="0" rtlCol="0" anchor="ctr"/>
          <a:lstStyle/>
          <a:p>
            <a:pPr algn="ctr" indent="0" marL="0">
              <a:buNone/>
            </a:pPr>
            <a:r>
              <a:rPr lang="en-US" sz="1000" b="1" dirty="0">
                <a:solidFill>
                  <a:srgbClr val="05121E"/>
                </a:solidFill>
                <a:latin typeface="Calibri" pitchFamily="34" charset="0"/>
                <a:ea typeface="Calibri" pitchFamily="34" charset="-122"/>
                <a:cs typeface="Calibri" pitchFamily="34" charset="-120"/>
              </a:rPr>
              <a:t>6</a:t>
            </a:r>
            <a:endParaRPr lang="en-US" sz="1000" dirty="0"/>
          </a:p>
        </p:txBody>
      </p:sp>
      <p:sp>
        <p:nvSpPr>
          <p:cNvPr id="22" name="Text 20"/>
          <p:cNvSpPr txBox="1"/>
          <p:nvPr/>
        </p:nvSpPr>
        <p:spPr>
          <a:xfrm>
            <a:off x="932688" y="4480560"/>
            <a:ext cx="6172200" cy="384048"/>
          </a:xfrm>
          <a:prstGeom prst="rect">
            <a:avLst/>
          </a:prstGeom>
          <a:noFill/>
          <a:ln/>
        </p:spPr>
        <p:txBody>
          <a:bodyPr wrap="square" lIns="0" tIns="0" rIns="0" bIns="0" rtlCol="0" anchor="t"/>
          <a:lstStyle/>
          <a:p>
            <a:pPr indent="0" marL="0">
              <a:lnSpc>
                <a:spcPct val="113000"/>
              </a:lnSpc>
              <a:buNone/>
            </a:pPr>
            <a:r>
              <a:rPr lang="en-US" sz="1150" b="1" dirty="0">
                <a:solidFill>
                  <a:srgbClr val="F2F8FC"/>
                </a:solidFill>
                <a:latin typeface="Calibri" pitchFamily="34" charset="0"/>
                <a:ea typeface="Calibri" pitchFamily="34" charset="-122"/>
                <a:cs typeface="Calibri" pitchFamily="34" charset="-120"/>
              </a:rPr>
              <a:t>v6 reached kneeling.  </a:t>
            </a:r>
            <a:pPr indent="0" marL="0">
              <a:lnSpc>
                <a:spcPct val="113000"/>
              </a:lnSpc>
              <a:buNone/>
            </a:pPr>
            <a:r>
              <a:rPr lang="en-US" sz="1150" dirty="0">
                <a:solidFill>
                  <a:srgbClr val="A9C8DF"/>
                </a:solidFill>
                <a:latin typeface="Calibri" pitchFamily="34" charset="0"/>
                <a:ea typeface="Calibri" pitchFamily="34" charset="-122"/>
                <a:cs typeface="Calibri" pitchFamily="34" charset="-120"/>
              </a:rPr>
              <a:t>recovers from lying reliably, but only in a scene with knee contact</a:t>
            </a:r>
            <a:endParaRPr lang="en-US" sz="1150" dirty="0"/>
          </a:p>
        </p:txBody>
      </p:sp>
      <p:pic>
        <p:nvPicPr>
          <p:cNvPr id="23" name="Image 0" descr="C:/Users/zubai/AppData/Local/Temp/claude/C--Users-zubai-Downloads-dep-graph/351d714d-913f-4f1c-98bd-e1d4c65ece62/scratchpad/getup_crop.png">    </p:cNvPr>
          <p:cNvPicPr>
            <a:picLocks noChangeAspect="1"/>
          </p:cNvPicPr>
          <p:nvPr/>
        </p:nvPicPr>
        <p:blipFill>
          <a:blip r:embed="rId1"/>
          <a:stretch>
            <a:fillRect/>
          </a:stretch>
        </p:blipFill>
        <p:spPr>
          <a:xfrm>
            <a:off x="7114032" y="1719072"/>
            <a:ext cx="4526280" cy="3392424"/>
          </a:xfrm>
          <a:prstGeom prst="rect">
            <a:avLst/>
          </a:prstGeom>
        </p:spPr>
      </p:pic>
      <p:sp>
        <p:nvSpPr>
          <p:cNvPr id="24" name="Text 21"/>
          <p:cNvSpPr txBox="1"/>
          <p:nvPr/>
        </p:nvSpPr>
        <p:spPr>
          <a:xfrm>
            <a:off x="7114032" y="5157216"/>
            <a:ext cx="4526280" cy="274320"/>
          </a:xfrm>
          <a:prstGeom prst="rect">
            <a:avLst/>
          </a:prstGeom>
          <a:noFill/>
          <a:ln/>
        </p:spPr>
        <p:txBody>
          <a:bodyPr wrap="square" lIns="0" tIns="0" rIns="0" bIns="0" rtlCol="0" anchor="ctr"/>
          <a:lstStyle/>
          <a:p>
            <a:pPr algn="ctr" indent="0" marL="0">
              <a:buNone/>
            </a:pPr>
            <a:r>
              <a:rPr lang="en-US" sz="1000" dirty="0">
                <a:solidFill>
                  <a:srgbClr val="6E8CA3"/>
                </a:solidFill>
                <a:latin typeface="Calibri" pitchFamily="34" charset="0"/>
                <a:ea typeface="Calibri" pitchFamily="34" charset="-122"/>
                <a:cs typeface="Calibri" pitchFamily="34" charset="-120"/>
              </a:rPr>
              <a:t>v6, recovered to kneeling on its training ground</a:t>
            </a:r>
            <a:endParaRPr lang="en-US" sz="1000" dirty="0"/>
          </a:p>
        </p:txBody>
      </p:sp>
      <p:sp>
        <p:nvSpPr>
          <p:cNvPr id="25" name="Shape 22"/>
          <p:cNvSpPr/>
          <p:nvPr/>
        </p:nvSpPr>
        <p:spPr>
          <a:xfrm>
            <a:off x="548640" y="5486400"/>
            <a:ext cx="11094415" cy="786384"/>
          </a:xfrm>
          <a:prstGeom prst="roundRect">
            <a:avLst>
              <a:gd name="adj" fmla="val 6977"/>
            </a:avLst>
          </a:prstGeom>
          <a:solidFill>
            <a:srgbClr val="16374E"/>
          </a:solidFill>
          <a:ln w="9525">
            <a:solidFill>
              <a:srgbClr val="1C3B54"/>
            </a:solidFill>
            <a:prstDash val="solid"/>
          </a:ln>
        </p:spPr>
      </p:sp>
      <p:sp>
        <p:nvSpPr>
          <p:cNvPr id="26" name="Text 23"/>
          <p:cNvSpPr txBox="1"/>
          <p:nvPr/>
        </p:nvSpPr>
        <p:spPr>
          <a:xfrm>
            <a:off x="822960" y="5614416"/>
            <a:ext cx="10545775" cy="530352"/>
          </a:xfrm>
          <a:prstGeom prst="rect">
            <a:avLst/>
          </a:prstGeom>
          <a:noFill/>
          <a:ln/>
        </p:spPr>
        <p:txBody>
          <a:bodyPr wrap="square" lIns="0" tIns="0" rIns="0" bIns="0" rtlCol="0" anchor="ctr"/>
          <a:lstStyle/>
          <a:p>
            <a:pPr indent="0" marL="0">
              <a:lnSpc>
                <a:spcPct val="110000"/>
              </a:lnSpc>
              <a:buNone/>
            </a:pPr>
            <a:r>
              <a:rPr lang="en-US" sz="1200" b="1" dirty="0">
                <a:solidFill>
                  <a:srgbClr val="E0A33C"/>
                </a:solidFill>
                <a:latin typeface="Calibri" pitchFamily="34" charset="0"/>
                <a:ea typeface="Calibri" pitchFamily="34" charset="-122"/>
                <a:cs typeface="Calibri" pitchFamily="34" charset="-120"/>
              </a:rPr>
              <a:t>Where it stands:  </a:t>
            </a:r>
            <a:pPr indent="0" marL="0">
              <a:lnSpc>
                <a:spcPct val="110000"/>
              </a:lnSpc>
              <a:buNone/>
            </a:pPr>
            <a:r>
              <a:rPr lang="en-US" sz="1200" dirty="0">
                <a:solidFill>
                  <a:srgbClr val="A9C8DF"/>
                </a:solidFill>
                <a:latin typeface="Calibri" pitchFamily="34" charset="0"/>
                <a:ea typeface="Calibri" pitchFamily="34" charset="-122"/>
                <a:cs typeface="Calibri" pitchFamily="34" charset="-120"/>
              </a:rPr>
              <a:t>reliable recovery from lying at 0.09 m to kneeling at 0.545 m, 16 of 16 seeds, but only with knee contact, which the walking scene cannot provide. A foot based stand is not achieved.</a:t>
            </a:r>
            <a:endParaRPr lang="en-US" sz="1200" dirty="0"/>
          </a:p>
        </p:txBody>
      </p:sp>
      <p:sp>
        <p:nvSpPr>
          <p:cNvPr id="27" name="Text 24"/>
          <p:cNvSpPr txBox="1"/>
          <p:nvPr/>
        </p:nvSpPr>
        <p:spPr>
          <a:xfrm>
            <a:off x="548640" y="6419088"/>
            <a:ext cx="10545775" cy="237744"/>
          </a:xfrm>
          <a:prstGeom prst="rect">
            <a:avLst/>
          </a:prstGeom>
          <a:noFill/>
          <a:ln/>
        </p:spPr>
        <p:txBody>
          <a:bodyPr wrap="square" lIns="0" tIns="0" rIns="0" bIns="0" rtlCol="0" anchor="ctr"/>
          <a:lstStyle/>
          <a:p>
            <a:pPr indent="0" marL="0">
              <a:buNone/>
            </a:pPr>
            <a:r>
              <a:rPr lang="en-US" sz="950" dirty="0">
                <a:solidFill>
                  <a:srgbClr val="6E8CA3"/>
                </a:solidFill>
                <a:latin typeface="Calibri" pitchFamily="34" charset="0"/>
                <a:ea typeface="Calibri" pitchFamily="34" charset="-122"/>
                <a:cs typeface="Calibri" pitchFamily="34" charset="-120"/>
              </a:rPr>
              <a:t>Crampon  ·  Himalaya Robotics Hack 2026  ·  github.com/zubair480/crampon</a:t>
            </a:r>
            <a:endParaRPr lang="en-US" sz="950" dirty="0"/>
          </a:p>
        </p:txBody>
      </p:sp>
      <p:sp>
        <p:nvSpPr>
          <p:cNvPr id="28" name="Text 25"/>
          <p:cNvSpPr txBox="1"/>
          <p:nvPr/>
        </p:nvSpPr>
        <p:spPr>
          <a:xfrm>
            <a:off x="11094415" y="6419088"/>
            <a:ext cx="548640" cy="237744"/>
          </a:xfrm>
          <a:prstGeom prst="rect">
            <a:avLst/>
          </a:prstGeom>
          <a:noFill/>
          <a:ln/>
        </p:spPr>
        <p:txBody>
          <a:bodyPr wrap="square" lIns="0" tIns="0" rIns="0" bIns="0" rtlCol="0" anchor="ctr"/>
          <a:lstStyle/>
          <a:p>
            <a:pPr algn="r" indent="0" marL="0">
              <a:buNone/>
            </a:pPr>
            <a:r>
              <a:rPr lang="en-US" sz="950" dirty="0">
                <a:solidFill>
                  <a:srgbClr val="6E8CA3"/>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523"/>
        </a:solidFill>
      </p:bgPr>
    </p:bg>
    <p:spTree>
      <p:nvGrpSpPr>
        <p:cNvPr id="1" name=""/>
        <p:cNvGrpSpPr/>
        <p:nvPr/>
      </p:nvGrpSpPr>
      <p:grpSpPr>
        <a:xfrm>
          <a:off x="0" y="0"/>
          <a:ext cx="0" cy="0"/>
          <a:chOff x="0" y="0"/>
          <a:chExt cx="0" cy="0"/>
        </a:xfrm>
      </p:grpSpPr>
      <p:pic>
        <p:nvPicPr>
          <p:cNvPr id="2" name="Image 0" descr="C:/Users/zubai/Downloads/himalaya-hack/crampon/ev_wid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4101C">
              <a:alpha val="76000"/>
            </a:srgbClr>
          </a:solidFill>
          <a:ln/>
        </p:spPr>
      </p:sp>
      <p:sp>
        <p:nvSpPr>
          <p:cNvPr id="4" name="Text 1"/>
          <p:cNvSpPr txBox="1"/>
          <p:nvPr/>
        </p:nvSpPr>
        <p:spPr>
          <a:xfrm>
            <a:off x="548640" y="347472"/>
            <a:ext cx="11094415" cy="256032"/>
          </a:xfrm>
          <a:prstGeom prst="rect">
            <a:avLst/>
          </a:prstGeom>
          <a:noFill/>
          <a:ln/>
        </p:spPr>
        <p:txBody>
          <a:bodyPr wrap="square" lIns="0" tIns="0" rIns="0" bIns="0" rtlCol="0" anchor="ctr"/>
          <a:lstStyle/>
          <a:p>
            <a:pPr indent="0" marL="0">
              <a:buNone/>
            </a:pPr>
            <a:r>
              <a:rPr lang="en-US" sz="1050" b="1" spc="180" kern="0" dirty="0">
                <a:solidFill>
                  <a:srgbClr val="35A0F0"/>
                </a:solidFill>
                <a:latin typeface="Calibri" pitchFamily="34" charset="0"/>
                <a:ea typeface="Calibri" pitchFamily="34" charset="-122"/>
                <a:cs typeface="Calibri" pitchFamily="34" charset="-120"/>
              </a:rPr>
              <a:t>CRAMPON</a:t>
            </a:r>
            <a:endParaRPr lang="en-US" sz="1050" dirty="0"/>
          </a:p>
        </p:txBody>
      </p:sp>
      <p:sp>
        <p:nvSpPr>
          <p:cNvPr id="5" name="Text 2"/>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3100" b="1" dirty="0">
                <a:solidFill>
                  <a:srgbClr val="F2F8FC"/>
                </a:solidFill>
                <a:latin typeface="Cambria" pitchFamily="34" charset="0"/>
                <a:ea typeface="Cambria" pitchFamily="34" charset="-122"/>
                <a:cs typeface="Cambria" pitchFamily="34" charset="-120"/>
              </a:rPr>
              <a:t>Measured, honest, and it runs on the hardware a robot carries</a:t>
            </a:r>
            <a:endParaRPr lang="en-US" sz="3100" dirty="0"/>
          </a:p>
        </p:txBody>
      </p:sp>
      <p:sp>
        <p:nvSpPr>
          <p:cNvPr id="6" name="Shape 3"/>
          <p:cNvSpPr/>
          <p:nvPr/>
        </p:nvSpPr>
        <p:spPr>
          <a:xfrm>
            <a:off x="548640" y="1517904"/>
            <a:ext cx="5468112" cy="1572768"/>
          </a:xfrm>
          <a:prstGeom prst="roundRect">
            <a:avLst>
              <a:gd name="adj" fmla="val 3488"/>
            </a:avLst>
          </a:prstGeom>
          <a:solidFill>
            <a:srgbClr val="0F2739"/>
          </a:solidFill>
          <a:ln w="9525">
            <a:solidFill>
              <a:srgbClr val="1C3B54"/>
            </a:solidFill>
            <a:prstDash val="solid"/>
          </a:ln>
        </p:spPr>
      </p:sp>
      <p:sp>
        <p:nvSpPr>
          <p:cNvPr id="7" name="Text 4"/>
          <p:cNvSpPr txBox="1"/>
          <p:nvPr/>
        </p:nvSpPr>
        <p:spPr>
          <a:xfrm>
            <a:off x="822960" y="1682496"/>
            <a:ext cx="4937760" cy="310896"/>
          </a:xfrm>
          <a:prstGeom prst="rect">
            <a:avLst/>
          </a:prstGeom>
          <a:noFill/>
          <a:ln/>
        </p:spPr>
        <p:txBody>
          <a:bodyPr wrap="square" lIns="0" tIns="0" rIns="0" bIns="0" rtlCol="0" anchor="ctr"/>
          <a:lstStyle/>
          <a:p>
            <a:pPr indent="0" marL="0">
              <a:buNone/>
            </a:pPr>
            <a:r>
              <a:rPr lang="en-US" sz="1300" b="1" spc="80" kern="0" dirty="0">
                <a:solidFill>
                  <a:srgbClr val="35A0F0"/>
                </a:solidFill>
                <a:latin typeface="Calibri" pitchFamily="34" charset="0"/>
                <a:ea typeface="Calibri" pitchFamily="34" charset="-122"/>
                <a:cs typeface="Calibri" pitchFamily="34" charset="-120"/>
              </a:rPr>
              <a:t>Result</a:t>
            </a:r>
            <a:endParaRPr lang="en-US" sz="1300" dirty="0"/>
          </a:p>
        </p:txBody>
      </p:sp>
      <p:sp>
        <p:nvSpPr>
          <p:cNvPr id="8" name="Text 5"/>
          <p:cNvSpPr txBox="1"/>
          <p:nvPr/>
        </p:nvSpPr>
        <p:spPr>
          <a:xfrm>
            <a:off x="822960" y="2048256"/>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2x to 6.6x longer survival on ice, ahead on 19 to 24 of 24 seeds at every icy friction level, and no regression on normal ground.</a:t>
            </a:r>
            <a:endParaRPr lang="en-US" sz="1200" dirty="0"/>
          </a:p>
        </p:txBody>
      </p:sp>
      <p:sp>
        <p:nvSpPr>
          <p:cNvPr id="9" name="Shape 6"/>
          <p:cNvSpPr/>
          <p:nvPr/>
        </p:nvSpPr>
        <p:spPr>
          <a:xfrm>
            <a:off x="6172200" y="1517904"/>
            <a:ext cx="5468112" cy="1572768"/>
          </a:xfrm>
          <a:prstGeom prst="roundRect">
            <a:avLst>
              <a:gd name="adj" fmla="val 3488"/>
            </a:avLst>
          </a:prstGeom>
          <a:solidFill>
            <a:srgbClr val="0F2739"/>
          </a:solidFill>
          <a:ln w="9525">
            <a:solidFill>
              <a:srgbClr val="1C3B54"/>
            </a:solidFill>
            <a:prstDash val="solid"/>
          </a:ln>
        </p:spPr>
      </p:sp>
      <p:sp>
        <p:nvSpPr>
          <p:cNvPr id="10" name="Text 7"/>
          <p:cNvSpPr txBox="1"/>
          <p:nvPr/>
        </p:nvSpPr>
        <p:spPr>
          <a:xfrm>
            <a:off x="6446520" y="1682496"/>
            <a:ext cx="4937760" cy="310896"/>
          </a:xfrm>
          <a:prstGeom prst="rect">
            <a:avLst/>
          </a:prstGeom>
          <a:noFill/>
          <a:ln/>
        </p:spPr>
        <p:txBody>
          <a:bodyPr wrap="square" lIns="0" tIns="0" rIns="0" bIns="0" rtlCol="0" anchor="ctr"/>
          <a:lstStyle/>
          <a:p>
            <a:pPr indent="0" marL="0">
              <a:buNone/>
            </a:pPr>
            <a:r>
              <a:rPr lang="en-US" sz="1300" b="1" spc="80" kern="0" dirty="0">
                <a:solidFill>
                  <a:srgbClr val="35A0F0"/>
                </a:solidFill>
                <a:latin typeface="Calibri" pitchFamily="34" charset="0"/>
                <a:ea typeface="Calibri" pitchFamily="34" charset="-122"/>
                <a:cs typeface="Calibri" pitchFamily="34" charset="-120"/>
              </a:rPr>
              <a:t>Method</a:t>
            </a:r>
            <a:endParaRPr lang="en-US" sz="1300" dirty="0"/>
          </a:p>
        </p:txBody>
      </p:sp>
      <p:sp>
        <p:nvSpPr>
          <p:cNvPr id="11" name="Text 8"/>
          <p:cNvSpPr txBox="1"/>
          <p:nvPr/>
        </p:nvSpPr>
        <p:spPr>
          <a:xfrm>
            <a:off x="6446520" y="2048256"/>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Ice, cold stiffened joints, sagging servo gain and sustained 8000 m wind, learned through a curriculum because naive randomization diverges.</a:t>
            </a:r>
            <a:endParaRPr lang="en-US" sz="1200" dirty="0"/>
          </a:p>
        </p:txBody>
      </p:sp>
      <p:sp>
        <p:nvSpPr>
          <p:cNvPr id="12" name="Shape 9"/>
          <p:cNvSpPr/>
          <p:nvPr/>
        </p:nvSpPr>
        <p:spPr>
          <a:xfrm>
            <a:off x="548640" y="3273552"/>
            <a:ext cx="5468112" cy="1572768"/>
          </a:xfrm>
          <a:prstGeom prst="roundRect">
            <a:avLst>
              <a:gd name="adj" fmla="val 3488"/>
            </a:avLst>
          </a:prstGeom>
          <a:solidFill>
            <a:srgbClr val="0F2739"/>
          </a:solidFill>
          <a:ln w="9525">
            <a:solidFill>
              <a:srgbClr val="1C3B54"/>
            </a:solidFill>
            <a:prstDash val="solid"/>
          </a:ln>
        </p:spPr>
      </p:sp>
      <p:sp>
        <p:nvSpPr>
          <p:cNvPr id="13" name="Text 10"/>
          <p:cNvSpPr txBox="1"/>
          <p:nvPr/>
        </p:nvSpPr>
        <p:spPr>
          <a:xfrm>
            <a:off x="822960" y="3438144"/>
            <a:ext cx="4937760" cy="310896"/>
          </a:xfrm>
          <a:prstGeom prst="rect">
            <a:avLst/>
          </a:prstGeom>
          <a:noFill/>
          <a:ln/>
        </p:spPr>
        <p:txBody>
          <a:bodyPr wrap="square" lIns="0" tIns="0" rIns="0" bIns="0" rtlCol="0" anchor="ctr"/>
          <a:lstStyle/>
          <a:p>
            <a:pPr indent="0" marL="0">
              <a:buNone/>
            </a:pPr>
            <a:r>
              <a:rPr lang="en-US" sz="1300" b="1" spc="80" kern="0" dirty="0">
                <a:solidFill>
                  <a:srgbClr val="35A0F0"/>
                </a:solidFill>
                <a:latin typeface="Calibri" pitchFamily="34" charset="0"/>
                <a:ea typeface="Calibri" pitchFamily="34" charset="-122"/>
                <a:cs typeface="Calibri" pitchFamily="34" charset="-120"/>
              </a:rPr>
              <a:t>Deployment</a:t>
            </a:r>
            <a:endParaRPr lang="en-US" sz="1300" dirty="0"/>
          </a:p>
        </p:txBody>
      </p:sp>
      <p:sp>
        <p:nvSpPr>
          <p:cNvPr id="14" name="Text 11"/>
          <p:cNvSpPr txBox="1"/>
          <p:nvPr/>
        </p:nvSpPr>
        <p:spPr>
          <a:xfrm>
            <a:off x="822960" y="3803904"/>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462 Hz on a laptop CPU with no GPU. 2.17 ms against a 20 ms budget, on the same code path a robot would run.</a:t>
            </a:r>
            <a:endParaRPr lang="en-US" sz="1200" dirty="0"/>
          </a:p>
        </p:txBody>
      </p:sp>
      <p:sp>
        <p:nvSpPr>
          <p:cNvPr id="15" name="Shape 12"/>
          <p:cNvSpPr/>
          <p:nvPr/>
        </p:nvSpPr>
        <p:spPr>
          <a:xfrm>
            <a:off x="6172200" y="3273552"/>
            <a:ext cx="5468112" cy="1572768"/>
          </a:xfrm>
          <a:prstGeom prst="roundRect">
            <a:avLst>
              <a:gd name="adj" fmla="val 3488"/>
            </a:avLst>
          </a:prstGeom>
          <a:solidFill>
            <a:srgbClr val="0F2739"/>
          </a:solidFill>
          <a:ln w="9525">
            <a:solidFill>
              <a:srgbClr val="1C3B54"/>
            </a:solidFill>
            <a:prstDash val="solid"/>
          </a:ln>
        </p:spPr>
      </p:sp>
      <p:sp>
        <p:nvSpPr>
          <p:cNvPr id="16" name="Text 13"/>
          <p:cNvSpPr txBox="1"/>
          <p:nvPr/>
        </p:nvSpPr>
        <p:spPr>
          <a:xfrm>
            <a:off x="6446520" y="3438144"/>
            <a:ext cx="4937760" cy="310896"/>
          </a:xfrm>
          <a:prstGeom prst="rect">
            <a:avLst/>
          </a:prstGeom>
          <a:noFill/>
          <a:ln/>
        </p:spPr>
        <p:txBody>
          <a:bodyPr wrap="square" lIns="0" tIns="0" rIns="0" bIns="0" rtlCol="0" anchor="ctr"/>
          <a:lstStyle/>
          <a:p>
            <a:pPr indent="0" marL="0">
              <a:buNone/>
            </a:pPr>
            <a:r>
              <a:rPr lang="en-US" sz="1300" b="1" spc="80" kern="0" dirty="0">
                <a:solidFill>
                  <a:srgbClr val="E0A33C"/>
                </a:solidFill>
                <a:latin typeface="Calibri" pitchFamily="34" charset="0"/>
                <a:ea typeface="Calibri" pitchFamily="34" charset="-122"/>
                <a:cs typeface="Calibri" pitchFamily="34" charset="-120"/>
              </a:rPr>
              <a:t>Open</a:t>
            </a:r>
            <a:endParaRPr lang="en-US" sz="1300" dirty="0"/>
          </a:p>
        </p:txBody>
      </p:sp>
      <p:sp>
        <p:nvSpPr>
          <p:cNvPr id="17" name="Text 14"/>
          <p:cNvSpPr txBox="1"/>
          <p:nvPr/>
        </p:nvSpPr>
        <p:spPr>
          <a:xfrm>
            <a:off x="6446520" y="3803904"/>
            <a:ext cx="4937760" cy="914400"/>
          </a:xfrm>
          <a:prstGeom prst="rect">
            <a:avLst/>
          </a:prstGeom>
          <a:noFill/>
          <a:ln/>
        </p:spPr>
        <p:txBody>
          <a:bodyPr wrap="square" lIns="0" tIns="0" rIns="0" bIns="0" rtlCol="0" anchor="t"/>
          <a:lstStyle/>
          <a:p>
            <a:pPr indent="0" marL="0">
              <a:lnSpc>
                <a:spcPct val="118000"/>
              </a:lnSpc>
              <a:buNone/>
            </a:pPr>
            <a:r>
              <a:rPr lang="en-US" sz="1200" dirty="0">
                <a:solidFill>
                  <a:srgbClr val="A9C8DF"/>
                </a:solidFill>
                <a:latin typeface="Calibri" pitchFamily="34" charset="0"/>
                <a:ea typeface="Calibri" pitchFamily="34" charset="-122"/>
                <a:cs typeface="Calibri" pitchFamily="34" charset="-120"/>
              </a:rPr>
              <a:t>Fall recovery reaches kneeling, 16 of 16 seeds, and not standing. That is the honest gap today.</a:t>
            </a:r>
            <a:endParaRPr lang="en-US" sz="1200" dirty="0"/>
          </a:p>
        </p:txBody>
      </p:sp>
      <p:sp>
        <p:nvSpPr>
          <p:cNvPr id="18" name="Text 15"/>
          <p:cNvSpPr txBox="1"/>
          <p:nvPr/>
        </p:nvSpPr>
        <p:spPr>
          <a:xfrm>
            <a:off x="548640" y="5230368"/>
            <a:ext cx="6400800" cy="384048"/>
          </a:xfrm>
          <a:prstGeom prst="rect">
            <a:avLst/>
          </a:prstGeom>
          <a:noFill/>
          <a:ln/>
        </p:spPr>
        <p:txBody>
          <a:bodyPr wrap="square" lIns="0" tIns="0" rIns="0" bIns="0" rtlCol="0" anchor="ctr"/>
          <a:lstStyle/>
          <a:p>
            <a:pPr indent="0" marL="0">
              <a:buNone/>
            </a:pPr>
            <a:r>
              <a:rPr lang="en-US" sz="1700" b="1" dirty="0">
                <a:solidFill>
                  <a:srgbClr val="F2F8FC"/>
                </a:solidFill>
                <a:latin typeface="Calibri" pitchFamily="34" charset="0"/>
                <a:ea typeface="Calibri" pitchFamily="34" charset="-122"/>
                <a:cs typeface="Calibri" pitchFamily="34" charset="-120"/>
              </a:rPr>
              <a:t>github.com/zubair480/crampon</a:t>
            </a:r>
            <a:endParaRPr lang="en-US" sz="1700" dirty="0"/>
          </a:p>
        </p:txBody>
      </p:sp>
      <p:sp>
        <p:nvSpPr>
          <p:cNvPr id="19" name="Text 16"/>
          <p:cNvSpPr txBox="1"/>
          <p:nvPr/>
        </p:nvSpPr>
        <p:spPr>
          <a:xfrm>
            <a:off x="5852160" y="5230368"/>
            <a:ext cx="5788152" cy="384048"/>
          </a:xfrm>
          <a:prstGeom prst="rect">
            <a:avLst/>
          </a:prstGeom>
          <a:noFill/>
          <a:ln/>
        </p:spPr>
        <p:txBody>
          <a:bodyPr wrap="square" lIns="0" tIns="0" rIns="0" bIns="0" rtlCol="0" anchor="ctr"/>
          <a:lstStyle/>
          <a:p>
            <a:pPr algn="r" indent="0" marL="0">
              <a:buNone/>
            </a:pPr>
            <a:r>
              <a:rPr lang="en-US" sz="1150" dirty="0">
                <a:solidFill>
                  <a:srgbClr val="A9C8DF"/>
                </a:solidFill>
                <a:latin typeface="Calibri" pitchFamily="34" charset="0"/>
                <a:ea typeface="Calibri" pitchFamily="34" charset="-122"/>
                <a:cs typeface="Calibri" pitchFamily="34" charset="-120"/>
              </a:rPr>
              <a:t>Himalaya Robotics Hack 2026  ·  Track 1: Movement  ·  Unitree G1</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Crampon</dc:title>
  <dc:subject>PptxGenJS Presentation</dc:subject>
  <dc:creator>Crampon</dc:creator>
  <cp:lastModifiedBy>Crampon</cp:lastModifiedBy>
  <cp:revision>1</cp:revision>
  <dcterms:created xsi:type="dcterms:W3CDTF">2026-08-30T22:19:06Z</dcterms:created>
  <dcterms:modified xsi:type="dcterms:W3CDTF">2026-08-30T22:19:06Z</dcterms:modified>
</cp:coreProperties>
</file>